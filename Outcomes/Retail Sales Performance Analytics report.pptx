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FF2"/>
    <a:srgbClr val="1F2E4D"/>
    <a:srgbClr val="D63B36"/>
    <a:srgbClr val="48A538"/>
    <a:srgbClr val="F5904C"/>
    <a:srgbClr val="073256"/>
    <a:srgbClr val="1F2D4E"/>
    <a:srgbClr val="FFFFFF"/>
    <a:srgbClr val="0A3967"/>
    <a:srgbClr val="F6F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35" autoAdjust="0"/>
    <p:restoredTop sz="94715" autoAdjust="0"/>
  </p:normalViewPr>
  <p:slideViewPr>
    <p:cSldViewPr snapToGrid="0" snapToObjects="1">
      <p:cViewPr varScale="1">
        <p:scale>
          <a:sx n="91" d="100"/>
          <a:sy n="91" d="100"/>
        </p:scale>
        <p:origin x="76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55074348102167"/>
          <c:y val="0.12211962989837664"/>
          <c:w val="0.62366870029795063"/>
          <c:h val="0.7933360109412087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bubble3D val="0"/>
            <c:spPr>
              <a:solidFill>
                <a:srgbClr val="123D6E"/>
              </a:solidFill>
            </c:spPr>
            <c:extLst>
              <c:ext xmlns:c16="http://schemas.microsoft.com/office/drawing/2014/chart" uri="{C3380CC4-5D6E-409C-BE32-E72D297353CC}">
                <c16:uniqueId val="{00000001-7CD3-4061-B397-C6FA03105794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7CD3-4061-B397-C6FA03105794}"/>
              </c:ext>
            </c:extLst>
          </c:dPt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Remain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76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CD3-4061-B397-C6FA031057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9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55074348102167"/>
          <c:y val="0.12211962989837664"/>
          <c:w val="0.62366870029795063"/>
          <c:h val="0.7933360109412087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bubble3D val="0"/>
            <c:spPr>
              <a:solidFill>
                <a:srgbClr val="123D6E"/>
              </a:solidFill>
            </c:spPr>
            <c:extLst>
              <c:ext xmlns:c16="http://schemas.microsoft.com/office/drawing/2014/chart" uri="{C3380CC4-5D6E-409C-BE32-E72D297353CC}">
                <c16:uniqueId val="{00000001-8A53-4A0B-B59E-8DA94EDA6E30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8A53-4A0B-B59E-8DA94EDA6E30}"/>
              </c:ext>
            </c:extLst>
          </c:dPt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Remain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76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53-4A0B-B59E-8DA94EDA6E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9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55074348102167"/>
          <c:y val="0.12211962989837664"/>
          <c:w val="0.62366870029795063"/>
          <c:h val="0.7933360109412087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bubble3D val="0"/>
            <c:spPr>
              <a:solidFill>
                <a:srgbClr val="123D6E"/>
              </a:solidFill>
            </c:spPr>
            <c:extLst>
              <c:ext xmlns:c16="http://schemas.microsoft.com/office/drawing/2014/chart" uri="{C3380CC4-5D6E-409C-BE32-E72D297353CC}">
                <c16:uniqueId val="{00000001-92E7-4D00-BC10-83DA0E0D5398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92E7-4D00-BC10-83DA0E0D5398}"/>
              </c:ext>
            </c:extLst>
          </c:dPt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Remain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76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2E7-4D00-BC10-83DA0E0D53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9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1E687-19AE-4A9E-A64D-8A2AF04DE64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F18C8-00D9-4048-BBB7-926BE4758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64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F18C8-00D9-4048-BBB7-926BE47587D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862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F18C8-00D9-4048-BBB7-926BE47587D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57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381000"/>
            <a:ext cx="5810250" cy="6048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1981200"/>
            <a:ext cx="5524500" cy="2333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375" y="1019175"/>
            <a:ext cx="1777900" cy="847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525" y="1019175"/>
            <a:ext cx="1778049" cy="847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4825" y="1019175"/>
            <a:ext cx="1778049" cy="8477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375" y="4429125"/>
            <a:ext cx="2714625" cy="1857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0" y="4429125"/>
            <a:ext cx="2714625" cy="18573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0" y="4800600"/>
            <a:ext cx="1809750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0" y="5010150"/>
            <a:ext cx="1809750" cy="95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0" y="5219700"/>
            <a:ext cx="1809750" cy="95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0" y="5429250"/>
            <a:ext cx="1809750" cy="95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0" y="5638800"/>
            <a:ext cx="1809750" cy="952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32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875" y="6429375"/>
            <a:ext cx="4762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Inter"/>
              </a:rPr>
              <a:t>01 / 12 · EXECUTIVE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75" y="3810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 spc="300" dirty="0">
                <a:solidFill>
                  <a:srgbClr val="F36C21"/>
                </a:solidFill>
                <a:latin typeface="Inter"/>
              </a:rPr>
              <a:t>TATA </a:t>
            </a:r>
            <a:r>
              <a:rPr sz="1000" b="1" i="0" u="none" spc="300" dirty="0">
                <a:solidFill>
                  <a:srgbClr val="F36C21"/>
                </a:solidFill>
                <a:latin typeface="Inter"/>
              </a:rPr>
              <a:t>RETAIL</a:t>
            </a:r>
            <a:r>
              <a:rPr sz="975" b="1" i="0" u="none" spc="300" dirty="0">
                <a:solidFill>
                  <a:srgbClr val="F36C21"/>
                </a:solidFill>
                <a:latin typeface="Inter"/>
              </a:rPr>
              <a:t> </a:t>
            </a:r>
            <a:r>
              <a:rPr sz="975" b="1" i="0" u="none" dirty="0">
                <a:solidFill>
                  <a:srgbClr val="F36C21"/>
                </a:solidFill>
                <a:latin typeface="Inter"/>
              </a:rPr>
              <a:t>| </a:t>
            </a:r>
            <a:r>
              <a:rPr sz="975" b="1" i="0" u="none" spc="300" dirty="0">
                <a:solidFill>
                  <a:srgbClr val="F36C21"/>
                </a:solidFill>
                <a:latin typeface="Inter"/>
              </a:rPr>
              <a:t>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" y="2603999"/>
            <a:ext cx="4762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3819C"/>
                </a:solidFill>
                <a:latin typeface="Inter Medium"/>
              </a:rPr>
              <a:t>Executive Business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1250" y="2124075"/>
            <a:ext cx="5238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Inter ExtraBold"/>
              </a:rPr>
              <a:t>MONTHLY REVENUE TREND</a:t>
            </a:r>
          </a:p>
        </p:txBody>
      </p:sp>
      <p:sp>
        <p:nvSpPr>
          <p:cNvPr id="23" name="Rectangle 22"/>
          <p:cNvSpPr/>
          <p:nvPr/>
        </p:nvSpPr>
        <p:spPr>
          <a:xfrm flipV="1">
            <a:off x="546001" y="1079391"/>
            <a:ext cx="576000" cy="36000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36C2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3876" y="593135"/>
            <a:ext cx="4190068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sz="4050" b="0" i="0" u="none" dirty="0">
                <a:solidFill>
                  <a:srgbClr val="0A3967"/>
                </a:solidFill>
                <a:latin typeface="Inter ExtraBold"/>
              </a:rPr>
              <a:t>Retail Sales</a:t>
            </a:r>
            <a:r>
              <a:rPr dirty="0"/>
              <a:t>
</a:t>
            </a:r>
            <a:r>
              <a:rPr sz="4050" b="0" i="0" u="none" dirty="0">
                <a:solidFill>
                  <a:srgbClr val="0A3967"/>
                </a:solidFill>
                <a:latin typeface="Inter ExtraBold"/>
              </a:rPr>
              <a:t>Performance</a:t>
            </a:r>
            <a:r>
              <a:rPr dirty="0"/>
              <a:t>
</a:t>
            </a:r>
            <a:r>
              <a:rPr sz="4050" b="0" i="0" u="none" dirty="0">
                <a:solidFill>
                  <a:srgbClr val="F36C21"/>
                </a:solidFill>
                <a:latin typeface="Inter ExtraBold"/>
              </a:rPr>
              <a:t>Analytics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008FB34-36DC-9FCC-A1EE-209ADCD26985}"/>
              </a:ext>
            </a:extLst>
          </p:cNvPr>
          <p:cNvGrpSpPr/>
          <p:nvPr/>
        </p:nvGrpSpPr>
        <p:grpSpPr>
          <a:xfrm>
            <a:off x="551071" y="4948847"/>
            <a:ext cx="4762500" cy="514350"/>
            <a:chOff x="546001" y="4779454"/>
            <a:chExt cx="4762500" cy="514350"/>
          </a:xfrm>
        </p:grpSpPr>
        <p:sp>
          <p:nvSpPr>
            <p:cNvPr id="21" name="TextBox 20"/>
            <p:cNvSpPr txBox="1"/>
            <p:nvPr/>
          </p:nvSpPr>
          <p:spPr>
            <a:xfrm>
              <a:off x="546001" y="4779454"/>
              <a:ext cx="4762500" cy="1333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25" b="0" i="0" u="none" dirty="0">
                  <a:solidFill>
                    <a:srgbClr val="94A3B8"/>
                  </a:solidFill>
                  <a:latin typeface="Inter ExtraBold"/>
                </a:rPr>
                <a:t>BUILT WITH</a:t>
              </a:r>
            </a:p>
          </p:txBody>
        </p:sp>
        <p:pic>
          <p:nvPicPr>
            <p:cNvPr id="25" name="Picture 24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6001" y="5008054"/>
              <a:ext cx="752475" cy="285750"/>
            </a:xfrm>
            <a:prstGeom prst="rect">
              <a:avLst/>
            </a:prstGeom>
          </p:spPr>
        </p:pic>
        <p:pic>
          <p:nvPicPr>
            <p:cNvPr id="26" name="Picture 25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93726" y="5008054"/>
              <a:ext cx="857250" cy="285750"/>
            </a:xfrm>
            <a:prstGeom prst="rect">
              <a:avLst/>
            </a:prstGeom>
          </p:spPr>
        </p:pic>
        <p:pic>
          <p:nvPicPr>
            <p:cNvPr id="27" name="Picture 26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46226" y="5008054"/>
              <a:ext cx="771525" cy="285750"/>
            </a:xfrm>
            <a:prstGeom prst="rect">
              <a:avLst/>
            </a:prstGeom>
          </p:spPr>
        </p:pic>
        <p:pic>
          <p:nvPicPr>
            <p:cNvPr id="28" name="Picture 27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13001" y="5008054"/>
              <a:ext cx="590550" cy="285750"/>
            </a:xfrm>
            <a:prstGeom prst="rect">
              <a:avLst/>
            </a:prstGeom>
          </p:spPr>
        </p:pic>
      </p:grpSp>
      <p:sp>
        <p:nvSpPr>
          <p:cNvPr id="29" name="TextBox 28"/>
          <p:cNvSpPr txBox="1"/>
          <p:nvPr/>
        </p:nvSpPr>
        <p:spPr>
          <a:xfrm>
            <a:off x="6191250" y="1143000"/>
            <a:ext cx="14921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Inter ExtraBold"/>
              </a:rPr>
              <a:t>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250" y="1295400"/>
            <a:ext cx="14921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A3967"/>
                </a:solidFill>
                <a:latin typeface="Inter ExtraBold"/>
              </a:rPr>
              <a:t>£9.75M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1250" y="1609725"/>
            <a:ext cx="149215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F36C21"/>
                </a:solidFill>
                <a:latin typeface="Inter"/>
              </a:rPr>
              <a:t>▲ FY 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4400" y="1143000"/>
            <a:ext cx="149229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Inter ExtraBold"/>
              </a:rPr>
              <a:t>ORDERS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4400" y="1295400"/>
            <a:ext cx="1492299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 dirty="0">
                <a:solidFill>
                  <a:srgbClr val="0A3967"/>
                </a:solidFill>
                <a:latin typeface="Inter ExtraBold"/>
              </a:rPr>
              <a:t>2</a:t>
            </a:r>
            <a:r>
              <a:rPr lang="en-US" sz="1950" b="0" i="0" u="none" dirty="0">
                <a:solidFill>
                  <a:srgbClr val="0A3967"/>
                </a:solidFill>
                <a:latin typeface="Inter ExtraBold"/>
              </a:rPr>
              <a:t>4</a:t>
            </a:r>
            <a:r>
              <a:rPr sz="1950" b="0" i="0" u="none" dirty="0">
                <a:solidFill>
                  <a:srgbClr val="0A3967"/>
                </a:solidFill>
                <a:latin typeface="Inter ExtraBold"/>
              </a:rPr>
              <a:t>.2K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4400" y="1609725"/>
            <a:ext cx="149229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94A3B8"/>
                </a:solidFill>
                <a:latin typeface="Inter Medium"/>
              </a:rPr>
              <a:t>Invoices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7700" y="1143000"/>
            <a:ext cx="149229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Inter ExtraBold"/>
              </a:rPr>
              <a:t>CUSTOMERS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7700" y="1295400"/>
            <a:ext cx="1492299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 dirty="0">
                <a:solidFill>
                  <a:srgbClr val="0A3967"/>
                </a:solidFill>
                <a:latin typeface="Inter ExtraBold"/>
              </a:rPr>
              <a:t>4K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7700" y="1609725"/>
            <a:ext cx="1492299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825" dirty="0">
                <a:solidFill>
                  <a:srgbClr val="94A3B8"/>
                </a:solidFill>
                <a:latin typeface="Inter Medium"/>
              </a:rPr>
              <a:t>Total Customer</a:t>
            </a:r>
            <a:endParaRPr sz="825" b="0" i="0" u="none" dirty="0">
              <a:solidFill>
                <a:srgbClr val="94A3B8"/>
              </a:solidFill>
              <a:latin typeface="Inter Medium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91250" y="4572000"/>
            <a:ext cx="24288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 dirty="0">
                <a:solidFill>
                  <a:srgbClr val="64748B"/>
                </a:solidFill>
                <a:latin typeface="Inter ExtraBold"/>
              </a:rPr>
              <a:t>CUSTOMER MIX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1125" y="4572000"/>
            <a:ext cx="24288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Inter ExtraBold"/>
              </a:rPr>
              <a:t>TOP GEOGRAPHIES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9525" y="5229225"/>
            <a:ext cx="790575" cy="3429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629525" y="5229225"/>
            <a:ext cx="79057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Inter SemiBold"/>
              </a:rPr>
              <a:t> Registered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9525" y="5441971"/>
            <a:ext cx="790575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Inter SemiBold"/>
              </a:rPr>
              <a:t> </a:t>
            </a:r>
            <a:r>
              <a:rPr lang="en-US" sz="825" dirty="0">
                <a:solidFill>
                  <a:srgbClr val="475569"/>
                </a:solidFill>
                <a:latin typeface="Inter SemiBold"/>
              </a:rPr>
              <a:t>Guest</a:t>
            </a:r>
            <a:endParaRPr sz="825" b="0" i="0" u="none" dirty="0">
              <a:solidFill>
                <a:srgbClr val="475569"/>
              </a:solidFill>
              <a:latin typeface="Inter SemiBold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001125" y="4781550"/>
            <a:ext cx="6191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SemiBold"/>
              </a:rPr>
              <a:t>UK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1125" y="4991100"/>
            <a:ext cx="619125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825" dirty="0">
                <a:solidFill>
                  <a:srgbClr val="475569"/>
                </a:solidFill>
                <a:latin typeface="Inter SemiBold"/>
              </a:rPr>
              <a:t>Netherlands</a:t>
            </a:r>
            <a:endParaRPr sz="825" b="0" i="0" u="none" dirty="0">
              <a:solidFill>
                <a:srgbClr val="475569"/>
              </a:solidFill>
              <a:latin typeface="Inter SemiBold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01125" y="5200650"/>
            <a:ext cx="619125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825" b="0" i="0" u="none" dirty="0">
                <a:solidFill>
                  <a:srgbClr val="475569"/>
                </a:solidFill>
                <a:latin typeface="Inter SemiBold"/>
              </a:rPr>
              <a:t>EIRE</a:t>
            </a:r>
            <a:endParaRPr sz="825" b="0" i="0" u="none" dirty="0">
              <a:solidFill>
                <a:srgbClr val="475569"/>
              </a:solidFill>
              <a:latin typeface="Inter SemiBold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01125" y="5410200"/>
            <a:ext cx="619125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825" dirty="0">
                <a:solidFill>
                  <a:srgbClr val="475569"/>
                </a:solidFill>
                <a:latin typeface="Inter SemiBold"/>
              </a:rPr>
              <a:t>Germany</a:t>
            </a:r>
            <a:endParaRPr sz="825" b="0" i="0" u="none" dirty="0">
              <a:solidFill>
                <a:srgbClr val="475569"/>
              </a:solidFill>
              <a:latin typeface="Inter SemiBold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001125" y="5619750"/>
            <a:ext cx="619125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825" b="0" i="0" u="none" dirty="0">
                <a:solidFill>
                  <a:srgbClr val="475569"/>
                </a:solidFill>
                <a:latin typeface="Inter SemiBold"/>
              </a:rPr>
              <a:t>France</a:t>
            </a:r>
            <a:r>
              <a:rPr sz="825" b="0" i="0" u="none" dirty="0">
                <a:solidFill>
                  <a:srgbClr val="475569"/>
                </a:solidFill>
                <a:latin typeface="Inter SemiBold"/>
              </a:rPr>
              <a:t>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20250" y="4800600"/>
            <a:ext cx="1592460" cy="95250"/>
          </a:xfrm>
          <a:prstGeom prst="roundRect">
            <a:avLst>
              <a:gd name="adj" fmla="val 20000"/>
            </a:avLst>
          </a:prstGeom>
          <a:solidFill>
            <a:srgbClr val="0A39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9620250" y="5010150"/>
            <a:ext cx="325635" cy="95250"/>
          </a:xfrm>
          <a:prstGeom prst="roundRect">
            <a:avLst>
              <a:gd name="adj" fmla="val 20000"/>
            </a:avLst>
          </a:prstGeom>
          <a:solidFill>
            <a:srgbClr val="0A39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620250" y="5219700"/>
            <a:ext cx="253305" cy="95250"/>
          </a:xfrm>
          <a:prstGeom prst="roundRect">
            <a:avLst>
              <a:gd name="adj" fmla="val 20000"/>
            </a:avLst>
          </a:prstGeom>
          <a:solidFill>
            <a:srgbClr val="0A39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620250" y="5429250"/>
            <a:ext cx="180975" cy="9525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620250" y="5638800"/>
            <a:ext cx="144660" cy="95250"/>
          </a:xfrm>
          <a:prstGeom prst="roundRect">
            <a:avLst>
              <a:gd name="adj" fmla="val 20000"/>
            </a:avLst>
          </a:prstGeom>
          <a:solidFill>
            <a:srgbClr val="CB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8" name="Chart 57">
            <a:extLst>
              <a:ext uri="{FF2B5EF4-FFF2-40B4-BE49-F238E27FC236}">
                <a16:creationId xmlns:a16="http://schemas.microsoft.com/office/drawing/2014/main" id="{689E3471-7A7D-9934-6263-10DB8946D0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4515425"/>
              </p:ext>
            </p:extLst>
          </p:nvPr>
        </p:nvGraphicFramePr>
        <p:xfrm>
          <a:off x="6048375" y="4741211"/>
          <a:ext cx="1719748" cy="13519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56CA64BB-24B8-56BD-7680-EE10CBD1B91A}"/>
              </a:ext>
            </a:extLst>
          </p:cNvPr>
          <p:cNvSpPr txBox="1"/>
          <p:nvPr/>
        </p:nvSpPr>
        <p:spPr>
          <a:xfrm>
            <a:off x="6554848" y="5241607"/>
            <a:ext cx="76495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123D6E"/>
                </a:solidFill>
              </a:rPr>
              <a:t>8</a:t>
            </a:r>
            <a:r>
              <a:rPr lang="en-US" sz="1800" b="1" dirty="0">
                <a:solidFill>
                  <a:srgbClr val="123D6E"/>
                </a:solidFill>
              </a:rPr>
              <a:t>4.9</a:t>
            </a:r>
            <a:r>
              <a:rPr sz="1800" b="1" dirty="0">
                <a:solidFill>
                  <a:schemeClr val="accent6"/>
                </a:solidFill>
              </a:rPr>
              <a:t>%</a:t>
            </a:r>
          </a:p>
          <a:p>
            <a:pPr algn="ctr"/>
            <a:r>
              <a:rPr sz="800" dirty="0">
                <a:solidFill>
                  <a:srgbClr val="464646"/>
                </a:solidFill>
              </a:rPr>
              <a:t>REG</a:t>
            </a:r>
          </a:p>
        </p:txBody>
      </p:sp>
      <p:pic>
        <p:nvPicPr>
          <p:cNvPr id="54" name="Picture 53" descr="cleaned_chart.png">
            <a:extLst>
              <a:ext uri="{FF2B5EF4-FFF2-40B4-BE49-F238E27FC236}">
                <a16:creationId xmlns:a16="http://schemas.microsoft.com/office/drawing/2014/main" id="{50523A3C-8E4C-D3E3-CEE2-33A5D96A82E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4803" y="2350723"/>
            <a:ext cx="5100884" cy="1850696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9077F103-EF62-3AB4-2156-13334FB06AE5}"/>
              </a:ext>
            </a:extLst>
          </p:cNvPr>
          <p:cNvGrpSpPr/>
          <p:nvPr/>
        </p:nvGrpSpPr>
        <p:grpSpPr>
          <a:xfrm>
            <a:off x="10731669" y="2533404"/>
            <a:ext cx="682648" cy="273774"/>
            <a:chOff x="10731669" y="2533404"/>
            <a:chExt cx="682648" cy="273774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771804E-1252-B538-5F39-23657CDE501D}"/>
                </a:ext>
              </a:extLst>
            </p:cNvPr>
            <p:cNvSpPr txBox="1"/>
            <p:nvPr/>
          </p:nvSpPr>
          <p:spPr>
            <a:xfrm>
              <a:off x="10731669" y="2533404"/>
              <a:ext cx="682648" cy="15004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en-US" sz="975" b="1" dirty="0">
                  <a:solidFill>
                    <a:srgbClr val="F36C21"/>
                  </a:solidFill>
                  <a:latin typeface="Inter"/>
                </a:rPr>
                <a:t>Nov Peak</a:t>
              </a:r>
              <a:endParaRPr sz="975" b="1" i="0" u="none" dirty="0">
                <a:solidFill>
                  <a:srgbClr val="F36C21"/>
                </a:solidFill>
                <a:latin typeface="Inter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F969662-A8C0-4B24-E9FF-BF16D0C85699}"/>
                </a:ext>
              </a:extLst>
            </p:cNvPr>
            <p:cNvSpPr/>
            <p:nvPr/>
          </p:nvSpPr>
          <p:spPr>
            <a:xfrm rot="21208722" flipV="1">
              <a:off x="10997283" y="2735178"/>
              <a:ext cx="72000" cy="72000"/>
            </a:xfrm>
            <a:prstGeom prst="ellipse">
              <a:avLst/>
            </a:prstGeom>
            <a:solidFill>
              <a:srgbClr val="F36C2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8" name="Rounded Rectangle 25">
            <a:extLst>
              <a:ext uri="{FF2B5EF4-FFF2-40B4-BE49-F238E27FC236}">
                <a16:creationId xmlns:a16="http://schemas.microsoft.com/office/drawing/2014/main" id="{E2029D5B-A1FE-11F2-2B89-E8D6ADCBE3B9}"/>
              </a:ext>
            </a:extLst>
          </p:cNvPr>
          <p:cNvSpPr/>
          <p:nvPr/>
        </p:nvSpPr>
        <p:spPr>
          <a:xfrm>
            <a:off x="6040754" y="539436"/>
            <a:ext cx="5532120" cy="384048"/>
          </a:xfrm>
          <a:prstGeom prst="roundRect">
            <a:avLst/>
          </a:prstGeom>
          <a:solidFill>
            <a:srgbClr val="113F68"/>
          </a:solidFill>
          <a:ln w="8890">
            <a:solidFill>
              <a:srgbClr val="113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88BED9-B2EC-B2B4-FA74-D5C651C800BD}"/>
              </a:ext>
            </a:extLst>
          </p:cNvPr>
          <p:cNvSpPr txBox="1"/>
          <p:nvPr/>
        </p:nvSpPr>
        <p:spPr>
          <a:xfrm>
            <a:off x="6138710" y="622215"/>
            <a:ext cx="1388522" cy="2646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20" b="1" dirty="0">
                <a:solidFill>
                  <a:srgbClr val="FFFFFF"/>
                </a:solidFill>
                <a:latin typeface="Aptos"/>
              </a:rPr>
              <a:t>CEO DASHBOARD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B62231-C2A3-2464-BB05-959D8368E490}"/>
              </a:ext>
            </a:extLst>
          </p:cNvPr>
          <p:cNvSpPr txBox="1"/>
          <p:nvPr/>
        </p:nvSpPr>
        <p:spPr>
          <a:xfrm>
            <a:off x="10527830" y="622215"/>
            <a:ext cx="74980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FY 2011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8621C1-D415-1B1D-248A-3EAEFC80487D}"/>
              </a:ext>
            </a:extLst>
          </p:cNvPr>
          <p:cNvSpPr txBox="1"/>
          <p:nvPr/>
        </p:nvSpPr>
        <p:spPr>
          <a:xfrm>
            <a:off x="440055" y="2933171"/>
            <a:ext cx="489204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19" b="0" dirty="0">
                <a:solidFill>
                  <a:srgbClr val="748BA6"/>
                </a:solidFill>
                <a:latin typeface="Aptos"/>
              </a:rPr>
              <a:t>Tata Retail Dataset · 541,909 Transactions · 38 Countries
Executive view of revenue, customer and market performance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0A69EC-78BD-521B-FF4E-DC675185A637}"/>
              </a:ext>
            </a:extLst>
          </p:cNvPr>
          <p:cNvSpPr txBox="1"/>
          <p:nvPr/>
        </p:nvSpPr>
        <p:spPr>
          <a:xfrm>
            <a:off x="440054" y="3469104"/>
            <a:ext cx="802717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13F68"/>
                </a:solidFill>
                <a:latin typeface="Aptos"/>
              </a:rPr>
              <a:t>BUSINESS OBJECTIVE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5BEBCCD-8596-21C1-F853-1381CD09DC11}"/>
              </a:ext>
            </a:extLst>
          </p:cNvPr>
          <p:cNvSpPr txBox="1"/>
          <p:nvPr/>
        </p:nvSpPr>
        <p:spPr>
          <a:xfrm>
            <a:off x="440055" y="3734280"/>
            <a:ext cx="5101591" cy="4060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dirty="0">
                <a:solidFill>
                  <a:srgbClr val="36485E"/>
                </a:solidFill>
                <a:latin typeface="Aptos"/>
              </a:rPr>
              <a:t>Centralize sales analytics to evaluate revenue performance, customer </a:t>
            </a:r>
            <a:r>
              <a:rPr sz="1019" b="0" dirty="0" err="1">
                <a:solidFill>
                  <a:srgbClr val="36485E"/>
                </a:solidFill>
                <a:latin typeface="Aptos"/>
              </a:rPr>
              <a:t>behavi</a:t>
            </a:r>
            <a:r>
              <a:rPr lang="en-US" sz="1019" b="0" dirty="0" err="1">
                <a:solidFill>
                  <a:srgbClr val="36485E"/>
                </a:solidFill>
                <a:latin typeface="Aptos"/>
              </a:rPr>
              <a:t>o</a:t>
            </a:r>
            <a:r>
              <a:rPr sz="1019" b="0" dirty="0" err="1">
                <a:solidFill>
                  <a:srgbClr val="36485E"/>
                </a:solidFill>
                <a:latin typeface="Aptos"/>
              </a:rPr>
              <a:t>ur</a:t>
            </a:r>
            <a:r>
              <a:rPr sz="1019" b="0" dirty="0">
                <a:solidFill>
                  <a:srgbClr val="36485E"/>
                </a:solidFill>
                <a:latin typeface="Aptos"/>
              </a:rPr>
              <a:t> and operational performance for commercial decision-making.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7602DD2-E58A-DB73-6ADD-C100914B71BA}"/>
              </a:ext>
            </a:extLst>
          </p:cNvPr>
          <p:cNvGrpSpPr/>
          <p:nvPr/>
        </p:nvGrpSpPr>
        <p:grpSpPr>
          <a:xfrm>
            <a:off x="440055" y="4257031"/>
            <a:ext cx="4892040" cy="585216"/>
            <a:chOff x="463441" y="4215384"/>
            <a:chExt cx="4892040" cy="585216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7530EEE-1D43-2826-ACE9-9C82BDF5E801}"/>
                </a:ext>
              </a:extLst>
            </p:cNvPr>
            <p:cNvSpPr txBox="1"/>
            <p:nvPr/>
          </p:nvSpPr>
          <p:spPr>
            <a:xfrm>
              <a:off x="463441" y="4215384"/>
              <a:ext cx="182880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819" b="1" dirty="0">
                  <a:solidFill>
                    <a:srgbClr val="113F68"/>
                  </a:solidFill>
                  <a:latin typeface="Aptos"/>
                </a:rPr>
                <a:t>ANALYSIS PERIOD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47E7B70-CF67-A0AF-280A-114575922F4E}"/>
                </a:ext>
              </a:extLst>
            </p:cNvPr>
            <p:cNvSpPr txBox="1"/>
            <p:nvPr/>
          </p:nvSpPr>
          <p:spPr>
            <a:xfrm>
              <a:off x="463441" y="4416552"/>
              <a:ext cx="2468880" cy="25603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980" b="0">
                  <a:solidFill>
                    <a:srgbClr val="36485E"/>
                  </a:solidFill>
                  <a:latin typeface="Aptos"/>
                </a:rPr>
                <a:t>December 2010 – December 2011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6758BC-2B3D-2DCB-F3B1-682F7B424ED9}"/>
                </a:ext>
              </a:extLst>
            </p:cNvPr>
            <p:cNvSpPr txBox="1"/>
            <p:nvPr/>
          </p:nvSpPr>
          <p:spPr>
            <a:xfrm>
              <a:off x="2932321" y="4215384"/>
              <a:ext cx="219456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819" b="1" dirty="0">
                  <a:solidFill>
                    <a:srgbClr val="F15B1E"/>
                  </a:solidFill>
                  <a:latin typeface="Aptos"/>
                </a:rPr>
                <a:t>REPORTING NOTE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DC5C04F-5494-B465-D67F-09FF22CF5A4B}"/>
                </a:ext>
              </a:extLst>
            </p:cNvPr>
            <p:cNvSpPr txBox="1"/>
            <p:nvPr/>
          </p:nvSpPr>
          <p:spPr>
            <a:xfrm>
              <a:off x="2932321" y="4416552"/>
              <a:ext cx="2423160" cy="384048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980" b="0" dirty="0">
                  <a:solidFill>
                    <a:srgbClr val="36485E"/>
                  </a:solidFill>
                  <a:latin typeface="Aptos"/>
                </a:rPr>
                <a:t>December 2011 is a partial period.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476375"/>
            <a:ext cx="5048250" cy="155793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866900"/>
            <a:ext cx="5667375" cy="35647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882032"/>
            <a:ext cx="2466975" cy="78908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150" y="3882032"/>
            <a:ext cx="2466975" cy="78908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785419"/>
            <a:ext cx="2466975" cy="78908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5150" y="4785419"/>
            <a:ext cx="2466975" cy="78908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855" y="2674555"/>
            <a:ext cx="1809750" cy="552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855" y="3269045"/>
            <a:ext cx="1809750" cy="5524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32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875" y="6429375"/>
            <a:ext cx="2009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Inter"/>
              </a:rPr>
              <a:t>02 / 12 · BUSINESS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5" y="381000"/>
            <a:ext cx="30861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u="none" spc="300" dirty="0">
                <a:solidFill>
                  <a:srgbClr val="F36C21"/>
                </a:solidFill>
                <a:latin typeface="Inter"/>
              </a:rPr>
              <a:t>02 ·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75" y="501331"/>
            <a:ext cx="324040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 dirty="0">
                <a:solidFill>
                  <a:srgbClr val="0A3967"/>
                </a:solidFill>
                <a:latin typeface="Inter ExtraBold"/>
              </a:rPr>
              <a:t>Business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5" y="1285875"/>
            <a:ext cx="504825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F36C21"/>
                </a:solidFill>
                <a:latin typeface="Inter ExtraBold"/>
              </a:rPr>
              <a:t>BUSINESS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75" y="3301007"/>
            <a:ext cx="504825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F36C21"/>
                </a:solidFill>
                <a:latin typeface="Inter ExtraBold"/>
              </a:rPr>
              <a:t>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" y="3491507"/>
            <a:ext cx="5048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 i="0" u="none">
                <a:solidFill>
                  <a:srgbClr val="0A3967"/>
                </a:solidFill>
                <a:latin typeface="Inter ExtraBold"/>
              </a:rPr>
              <a:t>Deliver an end-to-end analytics capability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0750" y="1285875"/>
            <a:ext cx="5667375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F36C21"/>
                </a:solidFill>
                <a:latin typeface="Inter ExtraBold"/>
              </a:rPr>
              <a:t>PROCESS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0750" y="1476375"/>
            <a:ext cx="56673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 i="0" u="none">
                <a:solidFill>
                  <a:srgbClr val="0A3967"/>
                </a:solidFill>
                <a:latin typeface="Inter ExtraBold"/>
              </a:rPr>
              <a:t>From raw transactions to executive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1695450"/>
            <a:ext cx="45339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 i="0" u="none">
                <a:solidFill>
                  <a:srgbClr val="0A3967"/>
                </a:solidFill>
                <a:latin typeface="Inter ExtraBold"/>
              </a:rPr>
              <a:t>Fragmented reporting limited decision-making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2047875"/>
            <a:ext cx="4533900" cy="369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 dirty="0">
                <a:solidFill>
                  <a:srgbClr val="475569"/>
                </a:solidFill>
                <a:latin typeface="Inter"/>
              </a:rPr>
              <a:t>The organization lacked a structured reporting solution to </a:t>
            </a:r>
            <a:r>
              <a:rPr lang="en-US" sz="975" dirty="0">
                <a:solidFill>
                  <a:srgbClr val="475569"/>
                </a:solidFill>
                <a:latin typeface="Inter"/>
              </a:rPr>
              <a:t>revenue drivers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,  Raw transactional data contained quality issues that limited reliable decision-making.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024907"/>
            <a:ext cx="2143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F36C21"/>
                </a:solidFill>
                <a:latin typeface="Inter ExtraBold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205882"/>
            <a:ext cx="2143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A3967"/>
                </a:solidFill>
                <a:latin typeface="Inter"/>
              </a:rPr>
              <a:t>Assess data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386857"/>
            <a:ext cx="2143125" cy="141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64748B"/>
                </a:solidFill>
                <a:latin typeface="Inter"/>
              </a:rPr>
              <a:t>Profile &amp; validate raw transactions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7075" y="4024907"/>
            <a:ext cx="2143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F36C21"/>
                </a:solidFill>
                <a:latin typeface="Inter ExtraBold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7075" y="4205882"/>
            <a:ext cx="2143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A3967"/>
                </a:solidFill>
                <a:latin typeface="Inter"/>
              </a:rPr>
              <a:t>Build automated ETL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7075" y="4386857"/>
            <a:ext cx="2143125" cy="141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64748B"/>
                </a:solidFill>
                <a:latin typeface="Inter"/>
              </a:rPr>
              <a:t>Reliable, repeatable data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928294"/>
            <a:ext cx="2143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F36C21"/>
                </a:solidFill>
                <a:latin typeface="Inter ExtraBold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109269"/>
            <a:ext cx="2143125" cy="155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 dirty="0">
                <a:solidFill>
                  <a:srgbClr val="0A3967"/>
                </a:solidFill>
                <a:latin typeface="Inter"/>
              </a:rPr>
              <a:t>Develop analytical </a:t>
            </a:r>
            <a:r>
              <a:rPr lang="en-US" sz="1012" b="1" dirty="0">
                <a:solidFill>
                  <a:srgbClr val="0A3967"/>
                </a:solidFill>
                <a:latin typeface="Inter"/>
              </a:rPr>
              <a:t>Layer</a:t>
            </a:r>
            <a:endParaRPr sz="1012" b="1" i="0" u="none" dirty="0">
              <a:solidFill>
                <a:srgbClr val="0A3967"/>
              </a:solidFill>
              <a:latin typeface="Inter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5800" y="5290244"/>
            <a:ext cx="2143125" cy="274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113"/>
              </a:lnSpc>
            </a:pPr>
            <a:r>
              <a:rPr lang="en-US" sz="825" dirty="0">
                <a:solidFill>
                  <a:srgbClr val="64748B"/>
                </a:solidFill>
                <a:latin typeface="Inter"/>
              </a:rPr>
              <a:t>Curated Analytics tables and Semantic Model</a:t>
            </a:r>
          </a:p>
          <a:p>
            <a:pPr algn="l">
              <a:lnSpc>
                <a:spcPts val="1113"/>
              </a:lnSpc>
            </a:pPr>
            <a:endParaRPr sz="825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67075" y="4928294"/>
            <a:ext cx="2143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F36C21"/>
                </a:solidFill>
                <a:latin typeface="Inter Extra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7075" y="5109269"/>
            <a:ext cx="2143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A3967"/>
                </a:solidFill>
                <a:latin typeface="Inter"/>
              </a:rPr>
              <a:t>Deliver executive dashboards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7075" y="5290244"/>
            <a:ext cx="2143125" cy="141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64748B"/>
                </a:solidFill>
                <a:latin typeface="Inter"/>
              </a:rPr>
              <a:t>Interactive Power BI reporting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4103726-05F2-D198-3DAF-4669AAA257BA}"/>
              </a:ext>
            </a:extLst>
          </p:cNvPr>
          <p:cNvGrpSpPr/>
          <p:nvPr/>
        </p:nvGrpSpPr>
        <p:grpSpPr>
          <a:xfrm>
            <a:off x="6207345" y="2080065"/>
            <a:ext cx="1809750" cy="552450"/>
            <a:chOff x="6238875" y="2111595"/>
            <a:chExt cx="1809750" cy="552450"/>
          </a:xfrm>
        </p:grpSpPr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38875" y="2111595"/>
              <a:ext cx="1809750" cy="55245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381750" y="2266950"/>
              <a:ext cx="1524000" cy="1047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675" b="0" i="0" u="none" dirty="0">
                  <a:solidFill>
                    <a:srgbClr val="64748B"/>
                  </a:solidFill>
                  <a:latin typeface="Inter ExtraBold"/>
                </a:rPr>
                <a:t>STAGE 01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350220" y="2348735"/>
            <a:ext cx="1524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0A3967"/>
                </a:solidFill>
                <a:latin typeface="Inter ExtraBold"/>
              </a:rPr>
              <a:t>Raw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7225" y="2271712"/>
            <a:ext cx="1209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Inter"/>
              </a:rPr>
              <a:t>541,909 rows · 8 vars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7225" y="2433637"/>
            <a:ext cx="1209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CSV transactional file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2225" y="2798380"/>
            <a:ext cx="15430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5" b="0" i="0" u="none" dirty="0">
                <a:solidFill>
                  <a:srgbClr val="94A3B8"/>
                </a:solidFill>
                <a:latin typeface="Inter ExtraBold"/>
              </a:rPr>
              <a:t>STAGE 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2225" y="2922205"/>
            <a:ext cx="1543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FFFFFF"/>
                </a:solidFill>
                <a:latin typeface="Inter ExtraBold"/>
              </a:rPr>
              <a:t>ETL 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7225" y="2824162"/>
            <a:ext cx="12954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Inter"/>
              </a:rPr>
              <a:t>Validate · Clean · Enrich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7225" y="2986087"/>
            <a:ext cx="1295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Python + Pandas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1750" y="3371850"/>
            <a:ext cx="15240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5" b="0" i="0" u="none">
                <a:solidFill>
                  <a:srgbClr val="64748B"/>
                </a:solidFill>
                <a:latin typeface="Inter ExtraBold"/>
              </a:rPr>
              <a:t>STAGE 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1750" y="3495675"/>
            <a:ext cx="15240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0A3967"/>
                </a:solidFill>
                <a:latin typeface="Inter ExtraBold"/>
              </a:rPr>
              <a:t>A</a:t>
            </a:r>
            <a:r>
              <a:rPr lang="en-US" sz="1125" dirty="0">
                <a:solidFill>
                  <a:srgbClr val="0A3967"/>
                </a:solidFill>
                <a:latin typeface="Inter ExtraBold"/>
              </a:rPr>
              <a:t>nalytics sales</a:t>
            </a:r>
            <a:endParaRPr sz="1125" b="0" i="0" u="none" dirty="0">
              <a:solidFill>
                <a:srgbClr val="0A3967"/>
              </a:solidFill>
              <a:latin typeface="Inter ExtraBold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77225" y="3376612"/>
            <a:ext cx="265747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00" b="1" dirty="0">
                <a:solidFill>
                  <a:srgbClr val="334155"/>
                </a:solidFill>
                <a:latin typeface="Inter"/>
              </a:rPr>
              <a:t>Analytic layer</a:t>
            </a:r>
            <a:r>
              <a:rPr sz="900" b="1" i="0" u="none" dirty="0">
                <a:solidFill>
                  <a:srgbClr val="334155"/>
                </a:solidFill>
                <a:latin typeface="Inter"/>
              </a:rPr>
              <a:t> · KPIs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7225" y="3538537"/>
            <a:ext cx="2106996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25" b="0" i="0" u="none" dirty="0">
                <a:solidFill>
                  <a:srgbClr val="64748B"/>
                </a:solidFill>
                <a:latin typeface="Inter"/>
              </a:rPr>
              <a:t>Cura</a:t>
            </a:r>
            <a:r>
              <a:rPr lang="en-US" sz="825" b="0" i="0" u="none" dirty="0">
                <a:solidFill>
                  <a:srgbClr val="64748B"/>
                </a:solidFill>
                <a:latin typeface="Inter"/>
              </a:rPr>
              <a:t>ted Analytics tables l</a:t>
            </a:r>
            <a:endParaRPr sz="825" b="0" i="0" u="none" dirty="0">
              <a:solidFill>
                <a:srgbClr val="64748B"/>
              </a:solidFill>
              <a:latin typeface="Inter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61C4B79-6256-48A4-0BF4-B3CB8BCABC79}"/>
              </a:ext>
            </a:extLst>
          </p:cNvPr>
          <p:cNvGrpSpPr/>
          <p:nvPr/>
        </p:nvGrpSpPr>
        <p:grpSpPr>
          <a:xfrm>
            <a:off x="8325349" y="4569121"/>
            <a:ext cx="1085850" cy="295275"/>
            <a:chOff x="8277225" y="3929062"/>
            <a:chExt cx="1085850" cy="295275"/>
          </a:xfrm>
        </p:grpSpPr>
        <p:sp>
          <p:nvSpPr>
            <p:cNvPr id="50" name="TextBox 49"/>
            <p:cNvSpPr txBox="1"/>
            <p:nvPr/>
          </p:nvSpPr>
          <p:spPr>
            <a:xfrm>
              <a:off x="8277225" y="3929062"/>
              <a:ext cx="1085850" cy="1428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 u="none" dirty="0">
                  <a:solidFill>
                    <a:srgbClr val="334155"/>
                  </a:solidFill>
                  <a:latin typeface="Inter"/>
                </a:rPr>
                <a:t>CEO KPI view · DAX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277225" y="4090987"/>
              <a:ext cx="1085850" cy="1333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25" b="0" i="0" u="none">
                  <a:solidFill>
                    <a:srgbClr val="64748B"/>
                  </a:solidFill>
                  <a:latin typeface="Inter"/>
                </a:rPr>
                <a:t>Power BI interactive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324600" y="4106360"/>
            <a:ext cx="15430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chemeClr val="bg1"/>
                </a:solidFill>
                <a:latin typeface="Inter ExtraBold"/>
              </a:rPr>
              <a:t>Executive Dashboard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6BEB93-B4A8-D8EE-4AE4-2B37BC555038}"/>
              </a:ext>
            </a:extLst>
          </p:cNvPr>
          <p:cNvSpPr txBox="1"/>
          <p:nvPr/>
        </p:nvSpPr>
        <p:spPr>
          <a:xfrm>
            <a:off x="6338395" y="3959795"/>
            <a:ext cx="1543050" cy="104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680" dirty="0">
                <a:solidFill>
                  <a:schemeClr val="bg1"/>
                </a:solidFill>
                <a:latin typeface="Inter ExtraBold"/>
              </a:rPr>
              <a:t>STAGE 04</a:t>
            </a:r>
            <a:endParaRPr sz="680" b="0" i="0" u="none" dirty="0">
              <a:solidFill>
                <a:schemeClr val="bg1"/>
              </a:solidFill>
              <a:latin typeface="Inter ExtraBold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F696F3-60CB-871E-F045-A78BF44E3F45}"/>
              </a:ext>
            </a:extLst>
          </p:cNvPr>
          <p:cNvGrpSpPr/>
          <p:nvPr/>
        </p:nvGrpSpPr>
        <p:grpSpPr>
          <a:xfrm>
            <a:off x="6235742" y="4474877"/>
            <a:ext cx="1800000" cy="554400"/>
            <a:chOff x="3113325" y="3205327"/>
            <a:chExt cx="2458800" cy="1429200"/>
          </a:xfrm>
        </p:grpSpPr>
        <p:sp>
          <p:nvSpPr>
            <p:cNvPr id="16" name="Rounded Rectangle 1">
              <a:extLst>
                <a:ext uri="{FF2B5EF4-FFF2-40B4-BE49-F238E27FC236}">
                  <a16:creationId xmlns:a16="http://schemas.microsoft.com/office/drawing/2014/main" id="{D20D1D67-9801-4945-8D75-7AF16FEAEB0D}"/>
                </a:ext>
              </a:extLst>
            </p:cNvPr>
            <p:cNvSpPr/>
            <p:nvPr/>
          </p:nvSpPr>
          <p:spPr>
            <a:xfrm>
              <a:off x="3113325" y="3205327"/>
              <a:ext cx="2458800" cy="1429200"/>
            </a:xfrm>
            <a:prstGeom prst="roundRect">
              <a:avLst>
                <a:gd name="adj" fmla="val 2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CB35BAB-4432-D569-A486-EA68D9C00D0D}"/>
                </a:ext>
              </a:extLst>
            </p:cNvPr>
            <p:cNvGrpSpPr/>
            <p:nvPr/>
          </p:nvGrpSpPr>
          <p:grpSpPr>
            <a:xfrm>
              <a:off x="3266820" y="3524991"/>
              <a:ext cx="2089384" cy="629518"/>
              <a:chOff x="3228720" y="3533859"/>
              <a:chExt cx="2089384" cy="629518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738ABA1-9287-03D4-37F2-864073E7407E}"/>
                  </a:ext>
                </a:extLst>
              </p:cNvPr>
              <p:cNvSpPr txBox="1"/>
              <p:nvPr/>
            </p:nvSpPr>
            <p:spPr>
              <a:xfrm>
                <a:off x="3241654" y="3533859"/>
                <a:ext cx="20764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US" sz="750" b="0" i="0" u="none" dirty="0">
                    <a:solidFill>
                      <a:srgbClr val="FFFFFF"/>
                    </a:solidFill>
                    <a:latin typeface="Inter ExtraBold"/>
                  </a:rPr>
                  <a:t>STAGE 04</a:t>
                </a:r>
                <a:endParaRPr sz="750" b="0" i="0" u="none" dirty="0">
                  <a:solidFill>
                    <a:srgbClr val="FFFFFF"/>
                  </a:solidFill>
                  <a:latin typeface="Inter ExtraBold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0528876-3828-A580-099C-F8A80759CB4A}"/>
                  </a:ext>
                </a:extLst>
              </p:cNvPr>
              <p:cNvSpPr txBox="1"/>
              <p:nvPr/>
            </p:nvSpPr>
            <p:spPr>
              <a:xfrm>
                <a:off x="3228720" y="3859448"/>
                <a:ext cx="2076450" cy="30392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IN" sz="1150" dirty="0">
                    <a:solidFill>
                      <a:schemeClr val="bg1"/>
                    </a:solidFill>
                    <a:latin typeface="Inter ExtraBold"/>
                  </a:rPr>
                  <a:t>Executive Dashboard</a:t>
                </a:r>
              </a:p>
              <a:p>
                <a:pPr algn="l"/>
                <a:endParaRPr sz="825" b="0" i="0" u="none" dirty="0">
                  <a:solidFill>
                    <a:srgbClr val="FFFFFF"/>
                  </a:solidFill>
                  <a:latin typeface="Inter Medium"/>
                </a:endParaRPr>
              </a:p>
            </p:txBody>
          </p:sp>
        </p:grp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3B9B2F07-3D22-88E9-6DB9-BF283156BF06}"/>
              </a:ext>
            </a:extLst>
          </p:cNvPr>
          <p:cNvSpPr/>
          <p:nvPr/>
        </p:nvSpPr>
        <p:spPr>
          <a:xfrm>
            <a:off x="523875" y="922531"/>
            <a:ext cx="576000" cy="36000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36C21"/>
              </a:solidFill>
            </a:endParaRPr>
          </a:p>
        </p:txBody>
      </p:sp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EBCC8088-F93E-78DE-CA15-EED289063E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5992" y="3855522"/>
            <a:ext cx="1809750" cy="5524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CC8BD3A7-716D-33E8-9BD8-53A455AE630C}"/>
              </a:ext>
            </a:extLst>
          </p:cNvPr>
          <p:cNvSpPr txBox="1"/>
          <p:nvPr/>
        </p:nvSpPr>
        <p:spPr>
          <a:xfrm>
            <a:off x="6362700" y="3940614"/>
            <a:ext cx="15430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5" b="0" i="0" u="none" dirty="0">
                <a:solidFill>
                  <a:srgbClr val="94A3B8"/>
                </a:solidFill>
                <a:latin typeface="Inter ExtraBold"/>
              </a:rPr>
              <a:t>STAGE 0</a:t>
            </a:r>
            <a:r>
              <a:rPr lang="en-US" sz="675" b="0" i="0" u="none" dirty="0">
                <a:solidFill>
                  <a:srgbClr val="94A3B8"/>
                </a:solidFill>
                <a:latin typeface="Inter ExtraBold"/>
              </a:rPr>
              <a:t>4</a:t>
            </a:r>
            <a:endParaRPr sz="675" b="0" i="0" u="none" dirty="0">
              <a:solidFill>
                <a:srgbClr val="94A3B8"/>
              </a:solidFill>
              <a:latin typeface="Inter ExtraBold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6E3743-91D4-39D1-FD83-CFB4E912151A}"/>
              </a:ext>
            </a:extLst>
          </p:cNvPr>
          <p:cNvSpPr txBox="1"/>
          <p:nvPr/>
        </p:nvSpPr>
        <p:spPr>
          <a:xfrm>
            <a:off x="6362700" y="4064439"/>
            <a:ext cx="15430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25" b="0" i="0" u="none" dirty="0">
                <a:solidFill>
                  <a:srgbClr val="FFFFFF"/>
                </a:solidFill>
                <a:latin typeface="Inter ExtraBold"/>
              </a:rPr>
              <a:t>Semantic Model</a:t>
            </a:r>
            <a:endParaRPr sz="1125" b="0" i="0" u="none" dirty="0">
              <a:solidFill>
                <a:srgbClr val="FFFFFF"/>
              </a:solidFill>
              <a:latin typeface="Inter ExtraBold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D9CBBF-5ACE-BCE1-E736-7A31EBD386FF}"/>
              </a:ext>
            </a:extLst>
          </p:cNvPr>
          <p:cNvSpPr txBox="1"/>
          <p:nvPr/>
        </p:nvSpPr>
        <p:spPr>
          <a:xfrm>
            <a:off x="8239125" y="3948680"/>
            <a:ext cx="265747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00" b="1" i="0" u="none" dirty="0">
                <a:solidFill>
                  <a:srgbClr val="334155"/>
                </a:solidFill>
                <a:latin typeface="Inter"/>
              </a:rPr>
              <a:t>Semantic Model</a:t>
            </a:r>
            <a:r>
              <a:rPr sz="900" b="1" i="0" u="none" dirty="0">
                <a:solidFill>
                  <a:srgbClr val="334155"/>
                </a:solidFill>
                <a:latin typeface="Inter"/>
              </a:rPr>
              <a:t> · </a:t>
            </a:r>
            <a:r>
              <a:rPr lang="en-US" sz="900" b="1" dirty="0">
                <a:solidFill>
                  <a:srgbClr val="334155"/>
                </a:solidFill>
                <a:latin typeface="Inter"/>
              </a:rPr>
              <a:t>Dim &amp; Fact</a:t>
            </a:r>
            <a:endParaRPr sz="900" b="1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3FED9F8-38EF-406F-BEAF-1DB30245040A}"/>
              </a:ext>
            </a:extLst>
          </p:cNvPr>
          <p:cNvSpPr txBox="1"/>
          <p:nvPr/>
        </p:nvSpPr>
        <p:spPr>
          <a:xfrm>
            <a:off x="8239125" y="4110605"/>
            <a:ext cx="2106996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825" b="0" i="0" u="none" dirty="0">
                <a:solidFill>
                  <a:srgbClr val="64748B"/>
                </a:solidFill>
                <a:latin typeface="Inter"/>
              </a:rPr>
              <a:t>Dim Date &amp; Dim Customer</a:t>
            </a:r>
            <a:endParaRPr sz="825" b="0" i="0" u="none" dirty="0">
              <a:solidFill>
                <a:srgbClr val="64748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062" y="1657350"/>
            <a:ext cx="5667375" cy="34194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657350"/>
            <a:ext cx="2457450" cy="1428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675" y="1657350"/>
            <a:ext cx="2457450" cy="1428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219450"/>
            <a:ext cx="2457450" cy="1428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1876425"/>
            <a:ext cx="5153025" cy="561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925" y="4314825"/>
            <a:ext cx="5153025" cy="5429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32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875" y="6429375"/>
            <a:ext cx="2019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Inter"/>
              </a:rPr>
              <a:t>03 / 12 · PROJECT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5" y="381000"/>
            <a:ext cx="340042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u="none" spc="300" dirty="0">
                <a:solidFill>
                  <a:srgbClr val="F36C21"/>
                </a:solidFill>
                <a:latin typeface="Inter"/>
              </a:rPr>
              <a:t>03 ·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75" y="504825"/>
            <a:ext cx="3570446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 dirty="0">
                <a:solidFill>
                  <a:srgbClr val="0A3967"/>
                </a:solidFill>
                <a:latin typeface="Inter ExtraBold"/>
              </a:rPr>
              <a:t>Project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875" y="1066800"/>
            <a:ext cx="34004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Medium"/>
              </a:rPr>
              <a:t>Dataset scope and technical architecture at a glance.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75" y="1428750"/>
            <a:ext cx="504825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F36C21"/>
                </a:solidFill>
                <a:latin typeface="Inter ExtraBold"/>
              </a:rPr>
              <a:t>DATASET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" y="4857750"/>
            <a:ext cx="5048250" cy="297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 dirty="0">
                <a:solidFill>
                  <a:srgbClr val="64748B"/>
                </a:solidFill>
                <a:latin typeface="Inter"/>
              </a:rPr>
              <a:t>Source: </a:t>
            </a:r>
            <a:r>
              <a:rPr sz="825" b="1" i="0" u="none" dirty="0">
                <a:solidFill>
                  <a:srgbClr val="F36C21"/>
                </a:solidFill>
                <a:latin typeface="Inter"/>
              </a:rPr>
              <a:t>Tata Online Retail dataset</a:t>
            </a:r>
            <a:r>
              <a:rPr sz="825" b="0" i="0" u="none" dirty="0">
                <a:solidFill>
                  <a:srgbClr val="F36C21"/>
                </a:solidFill>
                <a:latin typeface="Inter"/>
              </a:rPr>
              <a:t> </a:t>
            </a:r>
            <a:r>
              <a:rPr sz="825" b="0" i="0" u="none" dirty="0">
                <a:solidFill>
                  <a:srgbClr val="64748B"/>
                </a:solidFill>
                <a:latin typeface="Inter"/>
              </a:rPr>
              <a:t>- Period covers 12 months of transactional activity across a diversified product portfolio.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0750" y="1428750"/>
            <a:ext cx="5667375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F36C21"/>
                </a:solidFill>
                <a:latin typeface="Inter ExtraBold"/>
              </a:rPr>
              <a:t>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" y="1866900"/>
            <a:ext cx="20764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 dirty="0">
                <a:solidFill>
                  <a:srgbClr val="FFFFFF"/>
                </a:solidFill>
                <a:latin typeface="Inter ExtraBold"/>
              </a:rPr>
              <a:t>TRANSACTIONS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375" y="2171700"/>
            <a:ext cx="20764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0" i="0" u="none" dirty="0">
                <a:solidFill>
                  <a:srgbClr val="FFFFFF"/>
                </a:solidFill>
                <a:latin typeface="Inter ExtraBold"/>
              </a:rPr>
              <a:t>541,909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375" y="2743200"/>
            <a:ext cx="20764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FFFFFF"/>
                </a:solidFill>
                <a:latin typeface="Inter Medium"/>
              </a:rPr>
              <a:t>Line-level invoices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4700" y="1876425"/>
            <a:ext cx="20574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Inter ExtraBold"/>
              </a:rPr>
              <a:t>PRODUCTS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4700" y="2171700"/>
            <a:ext cx="2057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0" i="0" u="none">
                <a:solidFill>
                  <a:srgbClr val="0A3967"/>
                </a:solidFill>
                <a:latin typeface="Inter ExtraBold"/>
              </a:rPr>
              <a:t>4,070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4700" y="2733675"/>
            <a:ext cx="2057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Inter Medium"/>
              </a:rPr>
              <a:t>Unique stock keeping units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3438525"/>
            <a:ext cx="20574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Inter ExtraBold"/>
              </a:rPr>
              <a:t>COUNTRIES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" y="3733800"/>
            <a:ext cx="2057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0" i="0" u="none">
                <a:solidFill>
                  <a:srgbClr val="0A3967"/>
                </a:solidFill>
                <a:latin typeface="Inter ExtraBold"/>
              </a:rPr>
              <a:t>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4295775"/>
            <a:ext cx="2057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Inter Medium"/>
              </a:rPr>
              <a:t>Global market reach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8900" y="2000250"/>
            <a:ext cx="479107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5" b="0" i="0" u="none">
                <a:solidFill>
                  <a:srgbClr val="64748B"/>
                </a:solidFill>
                <a:latin typeface="Inter ExtraBold"/>
              </a:rPr>
              <a:t>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8900" y="2124075"/>
            <a:ext cx="47910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A3967"/>
                </a:solidFill>
                <a:latin typeface="Inter ExtraBold"/>
              </a:rPr>
              <a:t>CSV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2525" y="2481262"/>
            <a:ext cx="57150" cy="571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9675" y="2466975"/>
            <a:ext cx="66675" cy="1047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0" y="3038475"/>
            <a:ext cx="66675" cy="1047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0" y="3609975"/>
            <a:ext cx="66675" cy="1047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0" y="4181475"/>
            <a:ext cx="66675" cy="10477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29375" y="4429125"/>
            <a:ext cx="481012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5" b="0" i="0" u="none">
                <a:solidFill>
                  <a:srgbClr val="94A3B8"/>
                </a:solidFill>
                <a:latin typeface="Inter ExtraBold"/>
              </a:rPr>
              <a:t>DELIVERY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29375" y="4552950"/>
            <a:ext cx="48101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Inter ExtraBold"/>
              </a:rPr>
              <a:t>Power BI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DE2413A-92B2-EB4C-1DCE-7639BDE3E2DD}"/>
              </a:ext>
            </a:extLst>
          </p:cNvPr>
          <p:cNvGrpSpPr/>
          <p:nvPr/>
        </p:nvGrpSpPr>
        <p:grpSpPr>
          <a:xfrm>
            <a:off x="3113325" y="3205327"/>
            <a:ext cx="2458800" cy="1429200"/>
            <a:chOff x="3113325" y="3205327"/>
            <a:chExt cx="2458800" cy="1429200"/>
          </a:xfrm>
        </p:grpSpPr>
        <p:sp>
          <p:nvSpPr>
            <p:cNvPr id="56" name="Rounded Rectangle 1">
              <a:extLst>
                <a:ext uri="{FF2B5EF4-FFF2-40B4-BE49-F238E27FC236}">
                  <a16:creationId xmlns:a16="http://schemas.microsoft.com/office/drawing/2014/main" id="{5817A75A-915E-FFEE-398C-EBFBB2CCA680}"/>
                </a:ext>
              </a:extLst>
            </p:cNvPr>
            <p:cNvSpPr/>
            <p:nvPr/>
          </p:nvSpPr>
          <p:spPr>
            <a:xfrm>
              <a:off x="3113325" y="3205327"/>
              <a:ext cx="2458800" cy="1429200"/>
            </a:xfrm>
            <a:prstGeom prst="roundRect">
              <a:avLst>
                <a:gd name="adj" fmla="val 2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526FA5B-E242-4266-30B3-BB258F9AB846}"/>
                </a:ext>
              </a:extLst>
            </p:cNvPr>
            <p:cNvGrpSpPr/>
            <p:nvPr/>
          </p:nvGrpSpPr>
          <p:grpSpPr>
            <a:xfrm>
              <a:off x="3343275" y="3420132"/>
              <a:ext cx="2076450" cy="1009650"/>
              <a:chOff x="3305175" y="3429000"/>
              <a:chExt cx="2076450" cy="1009650"/>
            </a:xfrm>
          </p:grpSpPr>
          <p:sp>
            <p:nvSpPr>
              <p:cNvPr id="30" name="TextBox 29"/>
              <p:cNvSpPr txBox="1"/>
              <p:nvPr/>
            </p:nvSpPr>
            <p:spPr>
              <a:xfrm>
                <a:off x="3305175" y="3429000"/>
                <a:ext cx="20764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50" b="0" i="0" u="none" dirty="0">
                    <a:solidFill>
                      <a:srgbClr val="FFFFFF"/>
                    </a:solidFill>
                    <a:latin typeface="Inter ExtraBold"/>
                  </a:rPr>
                  <a:t>VARIABLES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305175" y="3733800"/>
                <a:ext cx="207645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3000"/>
                  </a:lnSpc>
                </a:pPr>
                <a:r>
                  <a:rPr sz="3000" b="0" i="0" u="none" dirty="0">
                    <a:solidFill>
                      <a:srgbClr val="FFFFFF"/>
                    </a:solidFill>
                    <a:latin typeface="Inter ExtraBold"/>
                  </a:rPr>
                  <a:t>8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3305175" y="4305300"/>
                <a:ext cx="20764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25" b="0" i="0" u="none" dirty="0">
                    <a:solidFill>
                      <a:srgbClr val="FFFFFF"/>
                    </a:solidFill>
                    <a:latin typeface="Inter Medium"/>
                  </a:rPr>
                  <a:t>Core columns per transaction</a:t>
                </a:r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8DD3393-3BA0-B37D-E3D7-0B0677A13CA0}"/>
              </a:ext>
            </a:extLst>
          </p:cNvPr>
          <p:cNvGrpSpPr/>
          <p:nvPr/>
        </p:nvGrpSpPr>
        <p:grpSpPr>
          <a:xfrm>
            <a:off x="6239925" y="2584350"/>
            <a:ext cx="5171025" cy="402559"/>
            <a:chOff x="6239925" y="2584350"/>
            <a:chExt cx="5171025" cy="402559"/>
          </a:xfrm>
        </p:grpSpPr>
        <p:sp>
          <p:nvSpPr>
            <p:cNvPr id="61" name="Rounded Rectangle 1">
              <a:extLst>
                <a:ext uri="{FF2B5EF4-FFF2-40B4-BE49-F238E27FC236}">
                  <a16:creationId xmlns:a16="http://schemas.microsoft.com/office/drawing/2014/main" id="{36461619-2016-53AE-2B21-1DA77620608B}"/>
                </a:ext>
              </a:extLst>
            </p:cNvPr>
            <p:cNvSpPr/>
            <p:nvPr/>
          </p:nvSpPr>
          <p:spPr>
            <a:xfrm>
              <a:off x="6266550" y="2584350"/>
              <a:ext cx="5144400" cy="396000"/>
            </a:xfrm>
            <a:prstGeom prst="roundRect">
              <a:avLst>
                <a:gd name="adj" fmla="val 1500"/>
              </a:avLst>
            </a:prstGeom>
            <a:solidFill>
              <a:srgbClr val="FFFFFF"/>
            </a:solidFill>
            <a:ln>
              <a:solidFill>
                <a:srgbClr val="DFE4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0DEF794-BC9F-7F71-93D7-69EE77FFFEAF}"/>
                </a:ext>
              </a:extLst>
            </p:cNvPr>
            <p:cNvSpPr/>
            <p:nvPr/>
          </p:nvSpPr>
          <p:spPr>
            <a:xfrm>
              <a:off x="6239925" y="2590909"/>
              <a:ext cx="36000" cy="39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920891EF-A6D7-1D94-8D02-A26F224F30C4}"/>
                </a:ext>
              </a:extLst>
            </p:cNvPr>
            <p:cNvGrpSpPr/>
            <p:nvPr/>
          </p:nvGrpSpPr>
          <p:grpSpPr>
            <a:xfrm>
              <a:off x="6467475" y="2705100"/>
              <a:ext cx="1905000" cy="161925"/>
              <a:chOff x="6467475" y="2724150"/>
              <a:chExt cx="1905000" cy="161925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6467475" y="2724150"/>
                <a:ext cx="666750" cy="16192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050" b="0" i="0" u="none" dirty="0">
                    <a:solidFill>
                      <a:srgbClr val="0A3967"/>
                    </a:solidFill>
                    <a:latin typeface="Inter ExtraBold"/>
                  </a:rPr>
                  <a:t>Validation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7248525" y="2738437"/>
                <a:ext cx="11239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25" b="0" i="0" u="none" dirty="0">
                    <a:solidFill>
                      <a:srgbClr val="64748B"/>
                    </a:solidFill>
                    <a:latin typeface="Inter Medium"/>
                  </a:rPr>
                  <a:t>Schema &amp; type checks</a:t>
                </a: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E601FDF-858B-1496-83BF-CEACC3CEB38D}"/>
              </a:ext>
            </a:extLst>
          </p:cNvPr>
          <p:cNvGrpSpPr/>
          <p:nvPr/>
        </p:nvGrpSpPr>
        <p:grpSpPr>
          <a:xfrm>
            <a:off x="6239925" y="3177866"/>
            <a:ext cx="5171025" cy="402559"/>
            <a:chOff x="6239925" y="2584350"/>
            <a:chExt cx="5171025" cy="402559"/>
          </a:xfrm>
        </p:grpSpPr>
        <p:sp>
          <p:nvSpPr>
            <p:cNvPr id="66" name="Rounded Rectangle 1">
              <a:extLst>
                <a:ext uri="{FF2B5EF4-FFF2-40B4-BE49-F238E27FC236}">
                  <a16:creationId xmlns:a16="http://schemas.microsoft.com/office/drawing/2014/main" id="{214EB0B2-6C6D-9633-6FD7-6FA4BB016328}"/>
                </a:ext>
              </a:extLst>
            </p:cNvPr>
            <p:cNvSpPr/>
            <p:nvPr/>
          </p:nvSpPr>
          <p:spPr>
            <a:xfrm>
              <a:off x="6266550" y="2584350"/>
              <a:ext cx="5144400" cy="396000"/>
            </a:xfrm>
            <a:prstGeom prst="roundRect">
              <a:avLst>
                <a:gd name="adj" fmla="val 1500"/>
              </a:avLst>
            </a:prstGeom>
            <a:solidFill>
              <a:srgbClr val="FFFFFF"/>
            </a:solidFill>
            <a:ln>
              <a:solidFill>
                <a:srgbClr val="DFE4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5A799C6-FFD4-7C76-B4EF-27EF49E030E7}"/>
                </a:ext>
              </a:extLst>
            </p:cNvPr>
            <p:cNvSpPr/>
            <p:nvPr/>
          </p:nvSpPr>
          <p:spPr>
            <a:xfrm>
              <a:off x="6239925" y="2590909"/>
              <a:ext cx="36000" cy="39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B5FACEC-CC6E-5E5E-9603-26E573B69287}"/>
                </a:ext>
              </a:extLst>
            </p:cNvPr>
            <p:cNvGrpSpPr/>
            <p:nvPr/>
          </p:nvGrpSpPr>
          <p:grpSpPr>
            <a:xfrm>
              <a:off x="6467475" y="2705100"/>
              <a:ext cx="3129487" cy="268203"/>
              <a:chOff x="6467475" y="2724150"/>
              <a:chExt cx="3129487" cy="268203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2348825-4C81-9032-B9C0-506BE17090D9}"/>
                  </a:ext>
                </a:extLst>
              </p:cNvPr>
              <p:cNvSpPr txBox="1"/>
              <p:nvPr/>
            </p:nvSpPr>
            <p:spPr>
              <a:xfrm>
                <a:off x="6467475" y="2724150"/>
                <a:ext cx="666750" cy="16192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US" sz="1050" b="0" i="0" u="none" dirty="0">
                    <a:solidFill>
                      <a:srgbClr val="0A3967"/>
                    </a:solidFill>
                    <a:latin typeface="Inter ExtraBold"/>
                  </a:rPr>
                  <a:t>Cleaning</a:t>
                </a:r>
                <a:endParaRPr sz="1050" b="0" i="0" u="none" dirty="0">
                  <a:solidFill>
                    <a:srgbClr val="0A3967"/>
                  </a:solidFill>
                  <a:latin typeface="Inter ExtraBold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B82EAE3-3BDF-4D6B-7E26-3A587EC26325}"/>
                  </a:ext>
                </a:extLst>
              </p:cNvPr>
              <p:cNvSpPr txBox="1"/>
              <p:nvPr/>
            </p:nvSpPr>
            <p:spPr>
              <a:xfrm>
                <a:off x="7248524" y="2738437"/>
                <a:ext cx="2348438" cy="25391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IN" sz="825" dirty="0">
                    <a:solidFill>
                      <a:srgbClr val="64748B"/>
                    </a:solidFill>
                    <a:latin typeface="Inter Medium"/>
                  </a:rPr>
                  <a:t>Nulls, duplicates, Negative Values, Inconsistency</a:t>
                </a:r>
              </a:p>
              <a:p>
                <a:pPr algn="l"/>
                <a:endParaRPr sz="825" b="0" i="0" u="none" dirty="0">
                  <a:solidFill>
                    <a:srgbClr val="64748B"/>
                  </a:solidFill>
                  <a:latin typeface="Inter Medium"/>
                </a:endParaRPr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2104608-FC2B-BB3C-50AC-4C2D0778DEF1}"/>
              </a:ext>
            </a:extLst>
          </p:cNvPr>
          <p:cNvGrpSpPr/>
          <p:nvPr/>
        </p:nvGrpSpPr>
        <p:grpSpPr>
          <a:xfrm>
            <a:off x="6244162" y="3764823"/>
            <a:ext cx="5171025" cy="536248"/>
            <a:chOff x="6239925" y="2584350"/>
            <a:chExt cx="5171025" cy="536248"/>
          </a:xfrm>
        </p:grpSpPr>
        <p:sp>
          <p:nvSpPr>
            <p:cNvPr id="72" name="Rounded Rectangle 1">
              <a:extLst>
                <a:ext uri="{FF2B5EF4-FFF2-40B4-BE49-F238E27FC236}">
                  <a16:creationId xmlns:a16="http://schemas.microsoft.com/office/drawing/2014/main" id="{FA46EE8D-694B-1CE0-C1AC-484C46D5EB34}"/>
                </a:ext>
              </a:extLst>
            </p:cNvPr>
            <p:cNvSpPr/>
            <p:nvPr/>
          </p:nvSpPr>
          <p:spPr>
            <a:xfrm>
              <a:off x="6266550" y="2584350"/>
              <a:ext cx="5144400" cy="396000"/>
            </a:xfrm>
            <a:prstGeom prst="roundRect">
              <a:avLst>
                <a:gd name="adj" fmla="val 1500"/>
              </a:avLst>
            </a:prstGeom>
            <a:solidFill>
              <a:srgbClr val="FFFFFF"/>
            </a:solidFill>
            <a:ln>
              <a:solidFill>
                <a:srgbClr val="DFE4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6506962-CCBA-21F3-041C-EC36F5652725}"/>
                </a:ext>
              </a:extLst>
            </p:cNvPr>
            <p:cNvSpPr/>
            <p:nvPr/>
          </p:nvSpPr>
          <p:spPr>
            <a:xfrm>
              <a:off x="6239925" y="2590909"/>
              <a:ext cx="36000" cy="39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049D2BE2-C670-D6AD-A8E3-A79BEBD50479}"/>
                </a:ext>
              </a:extLst>
            </p:cNvPr>
            <p:cNvGrpSpPr/>
            <p:nvPr/>
          </p:nvGrpSpPr>
          <p:grpSpPr>
            <a:xfrm>
              <a:off x="6467475" y="2705100"/>
              <a:ext cx="4876875" cy="415498"/>
              <a:chOff x="6467475" y="2724150"/>
              <a:chExt cx="4876875" cy="415498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E5C687C-E848-ACCB-4BFD-879D2A63A4D2}"/>
                  </a:ext>
                </a:extLst>
              </p:cNvPr>
              <p:cNvSpPr txBox="1"/>
              <p:nvPr/>
            </p:nvSpPr>
            <p:spPr>
              <a:xfrm>
                <a:off x="6467475" y="2724150"/>
                <a:ext cx="1486950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US" sz="1050" b="0" i="0" u="none" dirty="0">
                    <a:solidFill>
                      <a:srgbClr val="0A3967"/>
                    </a:solidFill>
                    <a:latin typeface="Inter ExtraBold"/>
                  </a:rPr>
                  <a:t>Feature Engineering</a:t>
                </a:r>
                <a:endParaRPr sz="1050" b="0" i="0" u="none" dirty="0">
                  <a:solidFill>
                    <a:srgbClr val="0A3967"/>
                  </a:solidFill>
                  <a:latin typeface="Inter ExtraBold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91FCE25-C178-2AAC-D7BA-E63BADCFFE73}"/>
                  </a:ext>
                </a:extLst>
              </p:cNvPr>
              <p:cNvSpPr txBox="1"/>
              <p:nvPr/>
            </p:nvSpPr>
            <p:spPr>
              <a:xfrm>
                <a:off x="8130112" y="2758775"/>
                <a:ext cx="3214238" cy="38087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IN" sz="825" dirty="0">
                    <a:solidFill>
                      <a:srgbClr val="64748B"/>
                    </a:solidFill>
                    <a:latin typeface="Inter Medium"/>
                  </a:rPr>
                  <a:t>Revenue, Invoice year, Invoice Month, Order Segmentation, Customer Segmentation</a:t>
                </a:r>
              </a:p>
              <a:p>
                <a:pPr algn="l"/>
                <a:endParaRPr sz="825" b="0" i="0" u="none" dirty="0">
                  <a:solidFill>
                    <a:srgbClr val="64748B"/>
                  </a:solidFill>
                  <a:latin typeface="Inter Medium"/>
                </a:endParaRPr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22DEF2A-5ACB-73D4-CA50-C3D94E4AE743}"/>
              </a:ext>
            </a:extLst>
          </p:cNvPr>
          <p:cNvSpPr/>
          <p:nvPr/>
        </p:nvSpPr>
        <p:spPr>
          <a:xfrm>
            <a:off x="523875" y="915450"/>
            <a:ext cx="576000" cy="36000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36C2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621792"/>
            <a:ext cx="6354304" cy="846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50" b="1" dirty="0">
                <a:solidFill>
                  <a:srgbClr val="0A3967"/>
                </a:solidFill>
                <a:latin typeface="Georgia"/>
              </a:rPr>
              <a:t>Cleaning 13% of the raw data so the
analysis can stand on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527048"/>
            <a:ext cx="7635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22304C"/>
                </a:solidFill>
                <a:latin typeface="Aptos"/>
              </a:rPr>
              <a:t>541,909 transaction records from 38 countries, audited and reconciled before any revenue or customer-level metric was
calculated.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" y="1847088"/>
            <a:ext cx="5605272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91072" y="1847088"/>
            <a:ext cx="5449824" cy="2971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1993392"/>
            <a:ext cx="21945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 dirty="0">
                <a:solidFill>
                  <a:srgbClr val="5B6D87"/>
                </a:solidFill>
                <a:latin typeface="Aptos Mono"/>
              </a:rPr>
              <a:t>DATA QUALITY ISSUE 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167128"/>
            <a:ext cx="24688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0" dirty="0">
                <a:solidFill>
                  <a:srgbClr val="5B6D87"/>
                </a:solidFill>
                <a:latin typeface="Aptos"/>
              </a:rPr>
              <a:t>Audit findings, ranked by volume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5768" y="2414016"/>
            <a:ext cx="918520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 dirty="0">
                <a:solidFill>
                  <a:srgbClr val="22304C"/>
                </a:solidFill>
                <a:latin typeface="Aptos"/>
              </a:rPr>
              <a:t>Missing Customer</a:t>
            </a:r>
            <a:r>
              <a:rPr lang="en-US" sz="800" b="0" dirty="0">
                <a:solidFill>
                  <a:srgbClr val="22304C"/>
                </a:solidFill>
                <a:latin typeface="Aptos"/>
              </a:rPr>
              <a:t> </a:t>
            </a:r>
            <a:r>
              <a:rPr sz="800" b="0" dirty="0">
                <a:solidFill>
                  <a:srgbClr val="22304C"/>
                </a:solidFill>
                <a:latin typeface="Aptos"/>
              </a:rPr>
              <a:t>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32304" y="2441448"/>
            <a:ext cx="3383280" cy="32004"/>
          </a:xfrm>
          <a:prstGeom prst="rect">
            <a:avLst/>
          </a:prstGeom>
          <a:solidFill>
            <a:srgbClr val="DEE3EA"/>
          </a:solidFill>
          <a:ln w="10160"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32304" y="2391156"/>
            <a:ext cx="3383280" cy="15544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0160">
            <a:solidFill>
              <a:srgbClr val="B93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77840" y="2395728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80" b="0">
                <a:solidFill>
                  <a:srgbClr val="22304C"/>
                </a:solidFill>
                <a:latin typeface="Aptos Mono"/>
              </a:rPr>
              <a:t>135,080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825496"/>
            <a:ext cx="1645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 dirty="0">
                <a:solidFill>
                  <a:srgbClr val="22304C"/>
                </a:solidFill>
                <a:latin typeface="Aptos"/>
              </a:rPr>
              <a:t>Duplicate records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32304" y="2852928"/>
            <a:ext cx="3383280" cy="32004"/>
          </a:xfrm>
          <a:prstGeom prst="rect">
            <a:avLst/>
          </a:prstGeom>
          <a:solidFill>
            <a:srgbClr val="DEE3EA"/>
          </a:solidFill>
          <a:ln w="10160"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432304" y="2802636"/>
            <a:ext cx="131944" cy="155448"/>
          </a:xfrm>
          <a:prstGeom prst="rect">
            <a:avLst/>
          </a:prstGeom>
          <a:solidFill>
            <a:srgbClr val="1C2D4E"/>
          </a:solidFill>
          <a:ln w="10160">
            <a:solidFill>
              <a:srgbClr val="1C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2807208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80" b="0">
                <a:solidFill>
                  <a:srgbClr val="22304C"/>
                </a:solidFill>
                <a:latin typeface="Aptos Mono"/>
              </a:rPr>
              <a:t>5,268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236976"/>
            <a:ext cx="1645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>
                <a:solidFill>
                  <a:srgbClr val="22304C"/>
                </a:solidFill>
                <a:latin typeface="Aptos"/>
              </a:rPr>
              <a:t>Missing product descriptions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32304" y="3264408"/>
            <a:ext cx="3383280" cy="32004"/>
          </a:xfrm>
          <a:prstGeom prst="rect">
            <a:avLst/>
          </a:prstGeom>
          <a:solidFill>
            <a:srgbClr val="DEE3EA"/>
          </a:solidFill>
          <a:ln w="10160"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432304" y="3214115"/>
            <a:ext cx="36417" cy="155448"/>
          </a:xfrm>
          <a:prstGeom prst="rect">
            <a:avLst/>
          </a:prstGeom>
          <a:solidFill>
            <a:srgbClr val="1C2D4E"/>
          </a:solidFill>
          <a:ln w="10160">
            <a:solidFill>
              <a:srgbClr val="1C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77840" y="3218688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80" b="0">
                <a:solidFill>
                  <a:srgbClr val="22304C"/>
                </a:solidFill>
                <a:latin typeface="Aptos Mono"/>
              </a:rPr>
              <a:t>1,454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648456"/>
            <a:ext cx="1645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>
                <a:solidFill>
                  <a:srgbClr val="22304C"/>
                </a:solidFill>
                <a:latin typeface="Aptos"/>
              </a:rPr>
              <a:t>Negative quantities / returns flagged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2304" y="3675887"/>
            <a:ext cx="3383280" cy="32004"/>
          </a:xfrm>
          <a:prstGeom prst="rect">
            <a:avLst/>
          </a:prstGeom>
          <a:solidFill>
            <a:srgbClr val="DEE3EA"/>
          </a:solidFill>
          <a:ln w="10160"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432304" y="3625595"/>
            <a:ext cx="231329" cy="155448"/>
          </a:xfrm>
          <a:prstGeom prst="rect">
            <a:avLst/>
          </a:prstGeom>
          <a:solidFill>
            <a:srgbClr val="5B6D87"/>
          </a:solidFill>
          <a:ln w="10160">
            <a:solidFill>
              <a:srgbClr val="5B6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7840" y="3630168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80" b="0">
                <a:solidFill>
                  <a:srgbClr val="22304C"/>
                </a:solidFill>
                <a:latin typeface="Aptos Mono"/>
              </a:rPr>
              <a:t>9,236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059935"/>
            <a:ext cx="1645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>
                <a:solidFill>
                  <a:srgbClr val="22304C"/>
                </a:solidFill>
                <a:latin typeface="Aptos"/>
              </a:rPr>
              <a:t>Negative / zero-price records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32304" y="4087368"/>
            <a:ext cx="3383280" cy="32004"/>
          </a:xfrm>
          <a:prstGeom prst="rect">
            <a:avLst/>
          </a:prstGeom>
          <a:solidFill>
            <a:srgbClr val="DEE3EA"/>
          </a:solidFill>
          <a:ln w="10160"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432304" y="4037076"/>
            <a:ext cx="22860" cy="155448"/>
          </a:xfrm>
          <a:prstGeom prst="rect">
            <a:avLst/>
          </a:prstGeom>
          <a:solidFill>
            <a:srgbClr val="5B6D87"/>
          </a:solidFill>
          <a:ln w="10160">
            <a:solidFill>
              <a:srgbClr val="5B6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77840" y="4041648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80" b="0">
                <a:solidFill>
                  <a:srgbClr val="22304C"/>
                </a:solidFill>
                <a:latin typeface="Aptos Mono"/>
              </a:rPr>
              <a:t>251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432304" y="4407408"/>
            <a:ext cx="3383280" cy="0"/>
          </a:xfrm>
          <a:prstGeom prst="line">
            <a:avLst/>
          </a:prstGeom>
          <a:ln w="10160">
            <a:solidFill>
              <a:srgbClr val="1C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432304" y="4462272"/>
            <a:ext cx="18288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20" b="0">
                <a:solidFill>
                  <a:srgbClr val="5B6D87"/>
                </a:solidFill>
                <a:latin typeface="Aptos Mono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86784" y="4462272"/>
            <a:ext cx="5943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20" b="0">
                <a:solidFill>
                  <a:srgbClr val="5B6D87"/>
                </a:solidFill>
                <a:latin typeface="Aptos Mono"/>
              </a:rPr>
              <a:t>70,000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0952" y="4462272"/>
            <a:ext cx="566928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20" b="0">
                <a:solidFill>
                  <a:srgbClr val="5B6D87"/>
                </a:solidFill>
                <a:latin typeface="Aptos Mono"/>
              </a:rPr>
              <a:t>135,000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3952" y="1993392"/>
            <a:ext cx="18288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5B6D87"/>
                </a:solidFill>
                <a:latin typeface="Aptos Mono"/>
              </a:rPr>
              <a:t>CLEANING WORKFLOW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2167128"/>
            <a:ext cx="2743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0">
                <a:solidFill>
                  <a:srgbClr val="5B6D87"/>
                </a:solidFill>
                <a:latin typeface="Aptos"/>
              </a:rPr>
              <a:t>Raw records flow through four controlled steps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73952" y="2487168"/>
            <a:ext cx="1170432" cy="859536"/>
          </a:xfrm>
          <a:prstGeom prst="rect">
            <a:avLst/>
          </a:prstGeom>
          <a:solidFill>
            <a:srgbClr val="F4F6F9"/>
          </a:solidFill>
          <a:ln w="1016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73952" y="2487168"/>
            <a:ext cx="1170432" cy="32004"/>
          </a:xfrm>
          <a:prstGeom prst="rect">
            <a:avLst/>
          </a:prstGeom>
          <a:solidFill>
            <a:srgbClr val="1C2D4E"/>
          </a:solidFill>
          <a:ln w="10160">
            <a:solidFill>
              <a:srgbClr val="1C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83680" y="2587752"/>
            <a:ext cx="950976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70" b="1">
                <a:solidFill>
                  <a:srgbClr val="F26526"/>
                </a:solidFill>
                <a:latin typeface="Aptos Mono"/>
              </a:rPr>
              <a:t>STEP 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47104" y="2761488"/>
            <a:ext cx="102412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2304C"/>
                </a:solidFill>
                <a:latin typeface="Aptos"/>
              </a:rPr>
              <a:t>Raw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3017520"/>
            <a:ext cx="9875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>
                <a:solidFill>
                  <a:srgbClr val="5B6D87"/>
                </a:solidFill>
                <a:latin typeface="Aptos Mono"/>
              </a:rPr>
              <a:t>541,909
transactions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27264" y="2487168"/>
            <a:ext cx="1170432" cy="859536"/>
          </a:xfrm>
          <a:prstGeom prst="rect">
            <a:avLst/>
          </a:prstGeom>
          <a:solidFill>
            <a:srgbClr val="F4F6F9"/>
          </a:solidFill>
          <a:ln w="1016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827264" y="2487168"/>
            <a:ext cx="1170432" cy="32004"/>
          </a:xfrm>
          <a:prstGeom prst="rect">
            <a:avLst/>
          </a:prstGeom>
          <a:solidFill>
            <a:srgbClr val="1C5FAA"/>
          </a:solidFill>
          <a:ln w="10160">
            <a:solidFill>
              <a:srgbClr val="1C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936992" y="2587752"/>
            <a:ext cx="950976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70" b="1">
                <a:solidFill>
                  <a:srgbClr val="F26526"/>
                </a:solidFill>
                <a:latin typeface="Aptos Mono"/>
              </a:rPr>
              <a:t>STEP 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0416" y="2761488"/>
            <a:ext cx="102412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2304C"/>
                </a:solidFill>
                <a:latin typeface="Aptos"/>
              </a:rPr>
              <a:t>Validation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18704" y="3017520"/>
            <a:ext cx="9875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>
                <a:solidFill>
                  <a:srgbClr val="5B6D87"/>
                </a:solidFill>
                <a:latin typeface="Aptos Mono"/>
              </a:rPr>
              <a:t>Schema &amp; type
consistency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71432" y="2487168"/>
            <a:ext cx="1170432" cy="859536"/>
          </a:xfrm>
          <a:prstGeom prst="rect">
            <a:avLst/>
          </a:prstGeom>
          <a:solidFill>
            <a:srgbClr val="F4F6F9"/>
          </a:solidFill>
          <a:ln w="1016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71432" y="2487168"/>
            <a:ext cx="1170432" cy="32004"/>
          </a:xfrm>
          <a:prstGeom prst="rect">
            <a:avLst/>
          </a:prstGeom>
          <a:solidFill>
            <a:srgbClr val="F26526"/>
          </a:solidFill>
          <a:ln w="10160">
            <a:solidFill>
              <a:srgbClr val="F26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81159" y="2587752"/>
            <a:ext cx="950976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70" b="1">
                <a:solidFill>
                  <a:srgbClr val="F26526"/>
                </a:solidFill>
                <a:latin typeface="Aptos Mono"/>
              </a:rPr>
              <a:t>STEP 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44584" y="2761488"/>
            <a:ext cx="102412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2304C"/>
                </a:solidFill>
                <a:latin typeface="Aptos"/>
              </a:rPr>
              <a:t>Investigation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62872" y="3017520"/>
            <a:ext cx="9875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>
                <a:solidFill>
                  <a:srgbClr val="5B6D87"/>
                </a:solidFill>
                <a:latin typeface="Aptos Mono"/>
              </a:rPr>
              <a:t>Business rules
+ checks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24744" y="2487168"/>
            <a:ext cx="1170432" cy="859536"/>
          </a:xfrm>
          <a:prstGeom prst="rect">
            <a:avLst/>
          </a:prstGeom>
          <a:solidFill>
            <a:srgbClr val="1F2E4D"/>
          </a:solidFill>
          <a:ln w="10160">
            <a:solidFill>
              <a:srgbClr val="1C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0524744" y="2487168"/>
            <a:ext cx="1170432" cy="32004"/>
          </a:xfrm>
          <a:prstGeom prst="rect">
            <a:avLst/>
          </a:prstGeom>
          <a:solidFill>
            <a:srgbClr val="1C2D4E"/>
          </a:solidFill>
          <a:ln w="10160">
            <a:solidFill>
              <a:srgbClr val="1C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634472" y="2587752"/>
            <a:ext cx="950976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70" b="1">
                <a:solidFill>
                  <a:srgbClr val="F26526"/>
                </a:solidFill>
                <a:latin typeface="Aptos Mono"/>
              </a:rPr>
              <a:t>STEP 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97896" y="2761488"/>
            <a:ext cx="102412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Clean dataset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16184" y="3017520"/>
            <a:ext cx="9875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Aptos Mono"/>
              </a:rPr>
              <a:t>Analytical
ready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644383" y="2916936"/>
            <a:ext cx="182881" cy="0"/>
          </a:xfrm>
          <a:prstGeom prst="line">
            <a:avLst/>
          </a:prstGeom>
          <a:ln w="12700">
            <a:solidFill>
              <a:srgbClr val="1C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997696" y="2916936"/>
            <a:ext cx="173736" cy="0"/>
          </a:xfrm>
          <a:prstGeom prst="line">
            <a:avLst/>
          </a:prstGeom>
          <a:ln w="12700">
            <a:solidFill>
              <a:srgbClr val="1C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341864" y="2916936"/>
            <a:ext cx="182880" cy="0"/>
          </a:xfrm>
          <a:prstGeom prst="line">
            <a:avLst/>
          </a:prstGeom>
          <a:ln w="12700">
            <a:solidFill>
              <a:srgbClr val="1C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6473952" y="3639312"/>
            <a:ext cx="5166360" cy="704088"/>
          </a:xfrm>
          <a:prstGeom prst="rect">
            <a:avLst/>
          </a:prstGeom>
          <a:solidFill>
            <a:srgbClr val="F4F6F9"/>
          </a:solidFill>
          <a:ln w="1016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473952" y="3639312"/>
            <a:ext cx="22860" cy="704088"/>
          </a:xfrm>
          <a:prstGeom prst="rect">
            <a:avLst/>
          </a:prstGeom>
          <a:solidFill>
            <a:srgbClr val="1C5FAA"/>
          </a:solidFill>
          <a:ln w="10160">
            <a:solidFill>
              <a:srgbClr val="1C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629400" y="3753612"/>
            <a:ext cx="1122102" cy="110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1" dirty="0">
                <a:solidFill>
                  <a:schemeClr val="accent6">
                    <a:lumMod val="75000"/>
                  </a:schemeClr>
                </a:solidFill>
                <a:latin typeface="Aptos Mono"/>
              </a:rPr>
              <a:t>CUSTOMERID TREATMENT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56832" y="3968496"/>
            <a:ext cx="4772140" cy="2708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 dirty="0">
                <a:solidFill>
                  <a:srgbClr val="22304C"/>
                </a:solidFill>
                <a:latin typeface="Aptos"/>
              </a:rPr>
              <a:t>Transactions with missing Customer</a:t>
            </a:r>
            <a:r>
              <a:rPr lang="en-US" sz="880" b="0" dirty="0">
                <a:solidFill>
                  <a:srgbClr val="22304C"/>
                </a:solidFill>
                <a:latin typeface="Aptos"/>
              </a:rPr>
              <a:t> </a:t>
            </a:r>
            <a:r>
              <a:rPr sz="880" b="0" dirty="0">
                <a:solidFill>
                  <a:srgbClr val="22304C"/>
                </a:solidFill>
                <a:latin typeface="Aptos"/>
              </a:rPr>
              <a:t>ID are retained for revenue and transaction-level analysis, but
excluded from customer-level metrics so registered-customer KPIs remain defensible.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3776" y="5038344"/>
            <a:ext cx="11247120" cy="640080"/>
          </a:xfrm>
          <a:prstGeom prst="rect">
            <a:avLst/>
          </a:prstGeom>
          <a:solidFill>
            <a:srgbClr val="F4F6F9"/>
          </a:solidFill>
          <a:ln w="10160"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493776" y="5038344"/>
            <a:ext cx="22860" cy="640080"/>
          </a:xfrm>
          <a:prstGeom prst="rect">
            <a:avLst/>
          </a:prstGeom>
          <a:solidFill>
            <a:srgbClr val="F26526"/>
          </a:solidFill>
          <a:ln w="10160">
            <a:solidFill>
              <a:srgbClr val="F26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85800" y="5266944"/>
            <a:ext cx="5943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1">
                <a:solidFill>
                  <a:srgbClr val="F26526"/>
                </a:solidFill>
                <a:latin typeface="Aptos Mono"/>
              </a:rPr>
              <a:t>TAKEAWAY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98448" y="5202936"/>
            <a:ext cx="100126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0" b="0">
                <a:solidFill>
                  <a:srgbClr val="22304C"/>
                </a:solidFill>
                <a:latin typeface="Aptos"/>
              </a:rPr>
              <a:t>Data quality was treated as an analytical control. Removing operational/bad records while retaining customer returns lets us report revenue leakage honestly — without
polluting the customer base.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33E1802-E6FF-EF38-71E0-3A2CC2256FF5}"/>
              </a:ext>
            </a:extLst>
          </p:cNvPr>
          <p:cNvSpPr txBox="1"/>
          <p:nvPr/>
        </p:nvSpPr>
        <p:spPr>
          <a:xfrm>
            <a:off x="493776" y="392430"/>
            <a:ext cx="441007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u="none" spc="300" dirty="0">
                <a:solidFill>
                  <a:srgbClr val="F36C21"/>
                </a:solidFill>
                <a:latin typeface="Inter"/>
              </a:rPr>
              <a:t>04 · DATA QUALITY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6D40C88-83A8-3766-7B91-F2FCD8E22AB4}"/>
              </a:ext>
            </a:extLst>
          </p:cNvPr>
          <p:cNvSpPr/>
          <p:nvPr/>
        </p:nvSpPr>
        <p:spPr>
          <a:xfrm>
            <a:off x="516636" y="996984"/>
            <a:ext cx="576000" cy="36000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36C2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176B44C-9CE1-F262-95E7-AC314A979CC7}"/>
              </a:ext>
            </a:extLst>
          </p:cNvPr>
          <p:cNvSpPr txBox="1"/>
          <p:nvPr/>
        </p:nvSpPr>
        <p:spPr>
          <a:xfrm>
            <a:off x="528749" y="6322695"/>
            <a:ext cx="251936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94A3B8"/>
                </a:solidFill>
                <a:latin typeface="Inter"/>
              </a:rPr>
              <a:t>04 / 12 · DATA QUALITY &amp; CLEANING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8056" y="569976"/>
            <a:ext cx="1097280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50" b="1" dirty="0">
                <a:solidFill>
                  <a:srgbClr val="1F2E4D"/>
                </a:solidFill>
                <a:latin typeface="Georgia"/>
              </a:rPr>
              <a:t>£9.75M delivered, 65% of customers 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060704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9" b="0">
                <a:solidFill>
                  <a:srgbClr val="1F2E4D"/>
                </a:solidFill>
                <a:latin typeface="Aptos"/>
              </a:rPr>
              <a:t>Eight headline metrics establish the baseline. The story sits in two numbers: cancellations compress gross revenue by 8.4%, and repeat customers carry 65% of completed orders.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481328"/>
            <a:ext cx="2633472" cy="1033271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3776" y="1481328"/>
            <a:ext cx="41148" cy="1033271"/>
          </a:xfrm>
          <a:prstGeom prst="rect">
            <a:avLst/>
          </a:prstGeom>
          <a:solidFill>
            <a:srgbClr val="1F2D4E"/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627632"/>
            <a:ext cx="224028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0" b="1">
                <a:solidFill>
                  <a:srgbClr val="5B6D87"/>
                </a:solidFill>
                <a:latin typeface="Aptos Mono"/>
              </a:rPr>
              <a:t>GROSS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37944"/>
            <a:ext cx="22860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F2E4D"/>
                </a:solidFill>
                <a:latin typeface="Aptos Mono"/>
              </a:rPr>
              <a:t>£10.64M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231136"/>
            <a:ext cx="22677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0">
                <a:solidFill>
                  <a:srgbClr val="5B6D87"/>
                </a:solidFill>
                <a:latin typeface="Aptos"/>
              </a:rPr>
              <a:t>Includes every completed + cancelled order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81328"/>
            <a:ext cx="2633472" cy="1033271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481328"/>
            <a:ext cx="41148" cy="1033271"/>
          </a:xfrm>
          <a:prstGeom prst="rect">
            <a:avLst/>
          </a:prstGeom>
          <a:solidFill>
            <a:srgbClr val="D63B36"/>
          </a:solidFill>
          <a:ln w="10160"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3008" y="1627632"/>
            <a:ext cx="224028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0" b="1">
                <a:solidFill>
                  <a:srgbClr val="5B6D87"/>
                </a:solidFill>
                <a:latin typeface="Aptos Mono"/>
              </a:rPr>
              <a:t>CANCELLED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837944"/>
            <a:ext cx="1538883" cy="3847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 dirty="0">
                <a:solidFill>
                  <a:srgbClr val="D63B36"/>
                </a:solidFill>
                <a:latin typeface="Aptos Mono"/>
              </a:rPr>
              <a:t>−£894.0K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231136"/>
            <a:ext cx="22677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0">
                <a:solidFill>
                  <a:srgbClr val="5B6D87"/>
                </a:solidFill>
                <a:latin typeface="Aptos"/>
              </a:rPr>
              <a:t>8.4% of gross revenue lost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481328"/>
            <a:ext cx="2633472" cy="1033271"/>
          </a:xfrm>
          <a:prstGeom prst="rect">
            <a:avLst/>
          </a:prstGeom>
          <a:solidFill>
            <a:srgbClr val="1F2D4E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1344" y="1481328"/>
            <a:ext cx="41148" cy="1033271"/>
          </a:xfrm>
          <a:prstGeom prst="rect">
            <a:avLst/>
          </a:prstGeom>
          <a:solidFill>
            <a:srgbClr val="EF7718"/>
          </a:solidFill>
          <a:ln w="10160">
            <a:solidFill>
              <a:srgbClr val="EF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1627632"/>
            <a:ext cx="224028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0" b="1" dirty="0">
                <a:solidFill>
                  <a:srgbClr val="EF7718"/>
                </a:solidFill>
                <a:latin typeface="Aptos Mono"/>
              </a:rPr>
              <a:t>TOTAL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837944"/>
            <a:ext cx="22860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 Mono"/>
              </a:rPr>
              <a:t>£9.75M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231136"/>
            <a:ext cx="22677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0" dirty="0">
                <a:solidFill>
                  <a:srgbClr val="FFFFFF"/>
                </a:solidFill>
                <a:latin typeface="Aptos"/>
              </a:rPr>
              <a:t>Net of cancellation impact — the headline number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5128" y="1481328"/>
            <a:ext cx="2633472" cy="1033271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25128" y="1481328"/>
            <a:ext cx="41148" cy="1033271"/>
          </a:xfrm>
          <a:prstGeom prst="rect">
            <a:avLst/>
          </a:prstGeom>
          <a:solidFill>
            <a:srgbClr val="1F2D4E"/>
          </a:solidFill>
          <a:ln w="10160">
            <a:solidFill>
              <a:srgbClr val="1F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1627632"/>
            <a:ext cx="224028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0" b="1">
                <a:solidFill>
                  <a:srgbClr val="5B6D87"/>
                </a:solidFill>
                <a:latin typeface="Aptos Mono"/>
              </a:rPr>
              <a:t>TOTAL 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1837944"/>
            <a:ext cx="577081" cy="3847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 dirty="0">
                <a:solidFill>
                  <a:srgbClr val="1F2E4D"/>
                </a:solidFill>
                <a:latin typeface="Aptos Mono"/>
              </a:rPr>
              <a:t>24K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231136"/>
            <a:ext cx="22677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0">
                <a:solidFill>
                  <a:srgbClr val="5B6D87"/>
                </a:solidFill>
                <a:latin typeface="Aptos"/>
              </a:rPr>
              <a:t>Cancellation order rate 16.08%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" y="2734056"/>
            <a:ext cx="2633472" cy="1033271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3776" y="2734056"/>
            <a:ext cx="41148" cy="1033271"/>
          </a:xfrm>
          <a:prstGeom prst="rect">
            <a:avLst/>
          </a:prstGeom>
          <a:solidFill>
            <a:srgbClr val="1F2D4E"/>
          </a:solidFill>
          <a:ln w="10160">
            <a:solidFill>
              <a:srgbClr val="1F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" y="2880360"/>
            <a:ext cx="224028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0" b="1">
                <a:solidFill>
                  <a:srgbClr val="5B6D87"/>
                </a:solidFill>
                <a:latin typeface="Aptos Mono"/>
              </a:rPr>
              <a:t>TOTAL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3090672"/>
            <a:ext cx="384721" cy="3847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 dirty="0">
                <a:solidFill>
                  <a:srgbClr val="1F2E4D"/>
                </a:solidFill>
                <a:latin typeface="Aptos Mono"/>
              </a:rPr>
              <a:t>4K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3483864"/>
            <a:ext cx="22677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0">
                <a:solidFill>
                  <a:srgbClr val="5B6D87"/>
                </a:solidFill>
                <a:latin typeface="Aptos"/>
              </a:rPr>
              <a:t>Registered customer base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2734056"/>
            <a:ext cx="2633472" cy="1033271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37560" y="2734056"/>
            <a:ext cx="41148" cy="1033271"/>
          </a:xfrm>
          <a:prstGeom prst="rect">
            <a:avLst/>
          </a:prstGeom>
          <a:solidFill>
            <a:srgbClr val="1F2D4E"/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93008" y="2880360"/>
            <a:ext cx="224028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0" b="1">
                <a:solidFill>
                  <a:srgbClr val="5B6D87"/>
                </a:solidFill>
                <a:latin typeface="Aptos Mono"/>
              </a:rPr>
              <a:t>AVG ORDER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3090672"/>
            <a:ext cx="22860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35BB7"/>
                </a:solidFill>
                <a:latin typeface="Aptos Mono"/>
              </a:rPr>
              <a:t>£408.61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93008" y="3483864"/>
            <a:ext cx="22677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0">
                <a:solidFill>
                  <a:srgbClr val="5B6D87"/>
                </a:solidFill>
                <a:latin typeface="Aptos"/>
              </a:rPr>
              <a:t>Average value across completed orders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1344" y="2734056"/>
            <a:ext cx="2633472" cy="1033271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81344" y="2734056"/>
            <a:ext cx="41148" cy="1033271"/>
          </a:xfrm>
          <a:prstGeom prst="rect">
            <a:avLst/>
          </a:prstGeom>
          <a:solidFill>
            <a:srgbClr val="48A538"/>
          </a:solidFill>
          <a:ln w="10160">
            <a:solidFill>
              <a:srgbClr val="1F8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36792" y="2880360"/>
            <a:ext cx="224028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0" b="1">
                <a:solidFill>
                  <a:srgbClr val="5B6D87"/>
                </a:solidFill>
                <a:latin typeface="Aptos Mono"/>
              </a:rPr>
              <a:t>REPEAT CUSTOMER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090672"/>
            <a:ext cx="577081" cy="3847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 dirty="0">
                <a:solidFill>
                  <a:srgbClr val="48A538"/>
                </a:solidFill>
                <a:latin typeface="Aptos Mono"/>
              </a:rPr>
              <a:t>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3483864"/>
            <a:ext cx="22677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0">
                <a:solidFill>
                  <a:srgbClr val="5B6D87"/>
                </a:solidFill>
                <a:latin typeface="Aptos"/>
              </a:rPr>
              <a:t>Customers with &gt;1 completed order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25128" y="2734056"/>
            <a:ext cx="2633472" cy="1033271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025128" y="2734056"/>
            <a:ext cx="41148" cy="1033271"/>
          </a:xfrm>
          <a:prstGeom prst="rect">
            <a:avLst/>
          </a:prstGeom>
          <a:solidFill>
            <a:srgbClr val="EF7718"/>
          </a:solidFill>
          <a:ln w="10160">
            <a:solidFill>
              <a:srgbClr val="EF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80576" y="2880360"/>
            <a:ext cx="224028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0" b="1">
                <a:solidFill>
                  <a:srgbClr val="5B6D87"/>
                </a:solidFill>
                <a:latin typeface="Aptos Mono"/>
              </a:rPr>
              <a:t>PURCHASE FREQUENCY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576" y="3090672"/>
            <a:ext cx="22860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EF7718"/>
                </a:solidFill>
                <a:latin typeface="Aptos Mono"/>
              </a:rPr>
              <a:t>4.27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0576" y="3483864"/>
            <a:ext cx="22677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0">
                <a:solidFill>
                  <a:srgbClr val="5B6D87"/>
                </a:solidFill>
                <a:latin typeface="Aptos"/>
              </a:rPr>
              <a:t>Avg completed orders per customer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" y="3877054"/>
            <a:ext cx="6949440" cy="2167130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" y="4279392"/>
            <a:ext cx="685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5B6D87"/>
                </a:solidFill>
                <a:latin typeface="Aptos Mono"/>
              </a:rPr>
              <a:t>REVENUE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88720" y="4187952"/>
            <a:ext cx="1527048" cy="1188720"/>
          </a:xfrm>
          <a:prstGeom prst="rect">
            <a:avLst/>
          </a:prstGeom>
          <a:solidFill>
            <a:srgbClr val="1F2D4E"/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74737" y="3968496"/>
            <a:ext cx="755014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 dirty="0">
                <a:solidFill>
                  <a:srgbClr val="1F2E4D"/>
                </a:solidFill>
                <a:latin typeface="Georgia"/>
              </a:rPr>
              <a:t>£10.64M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20" y="4983480"/>
            <a:ext cx="106984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GROSS
REVENUE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62656" y="4279392"/>
            <a:ext cx="1527048" cy="1097280"/>
          </a:xfrm>
          <a:prstGeom prst="rect">
            <a:avLst/>
          </a:prstGeom>
          <a:solidFill>
            <a:srgbClr val="D63B36"/>
          </a:solidFill>
          <a:ln w="10160"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87946" y="4078224"/>
            <a:ext cx="67646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 dirty="0">
                <a:solidFill>
                  <a:srgbClr val="D63B36"/>
                </a:solidFill>
                <a:latin typeface="Georgia"/>
              </a:rPr>
              <a:t>£0.89M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0264" y="4736592"/>
            <a:ext cx="520976" cy="221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20" b="1" dirty="0">
                <a:solidFill>
                  <a:srgbClr val="F6FAF9"/>
                </a:solidFill>
                <a:latin typeface="Aptos"/>
              </a:rPr>
              <a:t>CANCELLED
ORDERS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36592" y="4279392"/>
            <a:ext cx="1527048" cy="1097280"/>
          </a:xfrm>
          <a:prstGeom prst="rect">
            <a:avLst/>
          </a:prstGeom>
          <a:solidFill>
            <a:srgbClr val="48A538"/>
          </a:solidFill>
          <a:ln w="10160">
            <a:solidFill>
              <a:srgbClr val="EF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180317" y="4078224"/>
            <a:ext cx="639598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 dirty="0">
                <a:solidFill>
                  <a:srgbClr val="48A538"/>
                </a:solidFill>
                <a:latin typeface="Georgia"/>
              </a:rPr>
              <a:t>£9.75M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65192" y="4736592"/>
            <a:ext cx="1078992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NET / TOTAL
REVENUE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715768" y="4736592"/>
            <a:ext cx="246888" cy="0"/>
          </a:xfrm>
          <a:prstGeom prst="line">
            <a:avLst/>
          </a:prstGeom>
          <a:ln w="12700">
            <a:solidFill>
              <a:srgbClr val="1F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489704" y="4736592"/>
            <a:ext cx="246888" cy="0"/>
          </a:xfrm>
          <a:prstGeom prst="line">
            <a:avLst/>
          </a:prstGeom>
          <a:ln w="12700">
            <a:solidFill>
              <a:srgbClr val="1F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49224" y="5491971"/>
            <a:ext cx="2257028" cy="101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1" dirty="0">
                <a:solidFill>
                  <a:srgbClr val="1F2E4D"/>
                </a:solidFill>
                <a:latin typeface="Aptos Mono"/>
              </a:rPr>
              <a:t>GROSS  →  CANCELLATIONS  →  NET £9.75M TOTAL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8720" y="5687568"/>
            <a:ext cx="152704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20" b="0">
                <a:solidFill>
                  <a:srgbClr val="5B6D87"/>
                </a:solidFill>
                <a:latin typeface="Aptos Mono"/>
              </a:rPr>
              <a:t>100.0%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62656" y="5687568"/>
            <a:ext cx="152704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20" b="0">
                <a:solidFill>
                  <a:srgbClr val="5B6D87"/>
                </a:solidFill>
                <a:latin typeface="Aptos Mono"/>
              </a:rPr>
              <a:t>−8.4%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36592" y="5687568"/>
            <a:ext cx="152704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20" b="0">
                <a:solidFill>
                  <a:srgbClr val="5B6D87"/>
                </a:solidFill>
                <a:latin typeface="Aptos Mono"/>
              </a:rPr>
              <a:t>91.6% retained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20" y="3898234"/>
            <a:ext cx="4069080" cy="2221993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61090" y="4019470"/>
            <a:ext cx="2514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 dirty="0">
                <a:solidFill>
                  <a:srgbClr val="5B6D87"/>
                </a:solidFill>
                <a:latin typeface="Aptos Mono"/>
              </a:rPr>
              <a:t>CUSTOMER ENGAGEMENT PULSE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4167500"/>
            <a:ext cx="29260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0" dirty="0">
                <a:solidFill>
                  <a:srgbClr val="5B6D87"/>
                </a:solidFill>
                <a:latin typeface="Aptos"/>
              </a:rPr>
              <a:t>Two numbers explain the repeat engine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0" y="4407408"/>
            <a:ext cx="11430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5B6D87"/>
                </a:solidFill>
                <a:latin typeface="Aptos Mono"/>
              </a:rPr>
              <a:t>REPEAT RATE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61090" y="4513774"/>
            <a:ext cx="1144544" cy="6463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200" b="1" dirty="0">
                <a:solidFill>
                  <a:srgbClr val="48A538"/>
                </a:solidFill>
                <a:latin typeface="Georgia"/>
              </a:rPr>
              <a:t>65%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0" y="5193792"/>
            <a:ext cx="1901952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0">
                <a:solidFill>
                  <a:srgbClr val="1F2E4D"/>
                </a:solidFill>
                <a:latin typeface="Aptos"/>
              </a:rPr>
              <a:t>of customers returned for a second
completed order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57232" y="4407408"/>
            <a:ext cx="1371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5B6D87"/>
                </a:solidFill>
                <a:latin typeface="Aptos Mono"/>
              </a:rPr>
              <a:t>PURCHASE FREQUENCY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79635" y="4462272"/>
            <a:ext cx="1691640" cy="5669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200" b="1" dirty="0">
                <a:solidFill>
                  <a:srgbClr val="EF7718"/>
                </a:solidFill>
                <a:latin typeface="Georgia"/>
              </a:rPr>
              <a:t>4.27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57232" y="5193792"/>
            <a:ext cx="16002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0">
                <a:solidFill>
                  <a:srgbClr val="1F2E4D"/>
                </a:solidFill>
                <a:latin typeface="Aptos"/>
              </a:rPr>
              <a:t>avg completed orders per registered
customer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772400" y="5559552"/>
            <a:ext cx="3730752" cy="0"/>
          </a:xfrm>
          <a:prstGeom prst="line">
            <a:avLst/>
          </a:prstGeom>
          <a:ln w="1270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772400" y="5641848"/>
            <a:ext cx="3639312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0">
                <a:solidFill>
                  <a:srgbClr val="1F2E4D"/>
                </a:solidFill>
                <a:latin typeface="Aptos"/>
              </a:rPr>
              <a:t>• Together these two metrics drive most of the year’s revenue. Protecting them is the
  lowest-cost growth lever.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3776" y="6469680"/>
            <a:ext cx="4164602" cy="1277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30" b="0" dirty="0">
                <a:solidFill>
                  <a:srgbClr val="5B6D87"/>
                </a:solidFill>
                <a:latin typeface="Aptos Mono"/>
              </a:rPr>
              <a:t> </a:t>
            </a:r>
            <a:r>
              <a:rPr lang="en-IN" sz="800" b="1" dirty="0">
                <a:solidFill>
                  <a:srgbClr val="94A3B8"/>
                </a:solidFill>
                <a:latin typeface="Inter"/>
              </a:rPr>
              <a:t>05 / 12  </a:t>
            </a:r>
            <a:r>
              <a:rPr sz="830" b="0" dirty="0">
                <a:solidFill>
                  <a:srgbClr val="5B6D87"/>
                </a:solidFill>
                <a:latin typeface="Aptos Mono"/>
              </a:rPr>
              <a:t>KPI definitions from analytical model  TCS Retail Analytics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A4A929F-5DA7-340E-1EE9-3BAA33AF64DE}"/>
              </a:ext>
            </a:extLst>
          </p:cNvPr>
          <p:cNvSpPr txBox="1"/>
          <p:nvPr/>
        </p:nvSpPr>
        <p:spPr>
          <a:xfrm>
            <a:off x="476250" y="381000"/>
            <a:ext cx="1123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spc="300" dirty="0">
                <a:solidFill>
                  <a:srgbClr val="F47B38"/>
                </a:solidFill>
                <a:latin typeface="Inter"/>
              </a:rPr>
              <a:t>05 · KPI SUMMARY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FA212C7-5FC3-9169-AACF-FA85076376C5}"/>
              </a:ext>
            </a:extLst>
          </p:cNvPr>
          <p:cNvSpPr/>
          <p:nvPr/>
        </p:nvSpPr>
        <p:spPr>
          <a:xfrm>
            <a:off x="457945" y="957806"/>
            <a:ext cx="576000" cy="36000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36C2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1F2D4E"/>
          </a:solidFill>
          <a:ln w="10160">
            <a:solidFill>
              <a:srgbClr val="1F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6277" y="379157"/>
            <a:ext cx="3230051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850" b="1" spc="300" dirty="0">
                <a:solidFill>
                  <a:srgbClr val="EF7718"/>
                </a:solidFill>
                <a:latin typeface="Aptos Mono"/>
              </a:rPr>
              <a:t>06</a:t>
            </a:r>
            <a:r>
              <a:rPr sz="850" b="1" spc="300" dirty="0">
                <a:solidFill>
                  <a:srgbClr val="EF7718"/>
                </a:solidFill>
                <a:latin typeface="Aptos Mono"/>
              </a:rPr>
              <a:t> REVENUE &amp; MARKET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9632"/>
            <a:ext cx="10972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dirty="0">
                <a:solidFill>
                  <a:srgbClr val="1F2E4D"/>
                </a:solidFill>
                <a:latin typeface="Georgia"/>
              </a:rPr>
              <a:t>84% of revenue lives in the UK, and demand triples by November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1097280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E4D"/>
                </a:solidFill>
                <a:latin typeface="Aptos"/>
              </a:rPr>
              <a:t>The business is geographically concentrated, but the strongest international markets show clear expansion room. Demand also accelerates sharply toward year-end — with Nov as the highest full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545336"/>
            <a:ext cx="7406640" cy="3822191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28431" y="1545336"/>
            <a:ext cx="3584448" cy="1901952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28431" y="3557016"/>
            <a:ext cx="3584448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1700784"/>
            <a:ext cx="3200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1">
                <a:solidFill>
                  <a:srgbClr val="5B6D87"/>
                </a:solidFill>
                <a:latin typeface="Aptos Mono"/>
              </a:rPr>
              <a:t>MONTHLY REVENUE TREND — JAN TO DEC 2011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901952"/>
            <a:ext cx="52120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0">
                <a:solidFill>
                  <a:srgbClr val="5B6D87"/>
                </a:solidFill>
                <a:latin typeface="Aptos"/>
              </a:rPr>
              <a:t>Stable Jan–Aug at £0.49M–£0.72M, then accelerated to &gt; £1.0M Sep–Dec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70432" y="4608576"/>
            <a:ext cx="6547104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4535424"/>
            <a:ext cx="393192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0">
                <a:solidFill>
                  <a:srgbClr val="5B6D87"/>
                </a:solidFill>
                <a:latin typeface="Aptos Mono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70432" y="4023360"/>
            <a:ext cx="6547104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950208"/>
            <a:ext cx="393192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0">
                <a:solidFill>
                  <a:srgbClr val="5B6D87"/>
                </a:solidFill>
                <a:latin typeface="Aptos Mono"/>
              </a:rPr>
              <a:t>0.4M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0432" y="3438144"/>
            <a:ext cx="6547104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3364991"/>
            <a:ext cx="393192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0">
                <a:solidFill>
                  <a:srgbClr val="5B6D87"/>
                </a:solidFill>
                <a:latin typeface="Aptos Mono"/>
              </a:rPr>
              <a:t>0.8M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70432" y="2852928"/>
            <a:ext cx="6547104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2779776"/>
            <a:ext cx="393192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0">
                <a:solidFill>
                  <a:srgbClr val="5B6D87"/>
                </a:solidFill>
                <a:latin typeface="Aptos Mono"/>
              </a:rPr>
              <a:t>1.2M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70432" y="2267712"/>
            <a:ext cx="6547104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2194560"/>
            <a:ext cx="393192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0">
                <a:solidFill>
                  <a:srgbClr val="5B6D87"/>
                </a:solidFill>
                <a:latin typeface="Aptos Mono"/>
              </a:rPr>
              <a:t>1.6M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70432" y="4608576"/>
            <a:ext cx="6547104" cy="0"/>
          </a:xfrm>
          <a:prstGeom prst="line">
            <a:avLst/>
          </a:prstGeom>
          <a:ln w="12700">
            <a:solidFill>
              <a:srgbClr val="1F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170432" y="3891686"/>
            <a:ext cx="595191" cy="716889"/>
          </a:xfrm>
          <a:prstGeom prst="rect">
            <a:avLst/>
          </a:prstGeom>
          <a:solidFill>
            <a:srgbClr val="E7EEF8"/>
          </a:solidFill>
          <a:ln w="1016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765623" y="3862425"/>
            <a:ext cx="595191" cy="746150"/>
          </a:xfrm>
          <a:prstGeom prst="rect">
            <a:avLst/>
          </a:prstGeom>
          <a:solidFill>
            <a:srgbClr val="E7EEF8"/>
          </a:solidFill>
          <a:ln w="1016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60814" y="3862425"/>
            <a:ext cx="595191" cy="746150"/>
          </a:xfrm>
          <a:prstGeom prst="rect">
            <a:avLst/>
          </a:prstGeom>
          <a:solidFill>
            <a:srgbClr val="E7EEF8"/>
          </a:solidFill>
          <a:ln w="1016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56005" y="3555187"/>
            <a:ext cx="595191" cy="1053388"/>
          </a:xfrm>
          <a:prstGeom prst="rect">
            <a:avLst/>
          </a:prstGeom>
          <a:solidFill>
            <a:srgbClr val="E7EEF8"/>
          </a:solidFill>
          <a:ln w="1016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51197" y="3555187"/>
            <a:ext cx="595191" cy="1053388"/>
          </a:xfrm>
          <a:prstGeom prst="rect">
            <a:avLst/>
          </a:prstGeom>
          <a:solidFill>
            <a:srgbClr val="E7EEF8"/>
          </a:solidFill>
          <a:ln w="1016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46388" y="3584448"/>
            <a:ext cx="595191" cy="1024128"/>
          </a:xfrm>
          <a:prstGeom prst="rect">
            <a:avLst/>
          </a:prstGeom>
          <a:solidFill>
            <a:srgbClr val="E7EEF8"/>
          </a:solidFill>
          <a:ln w="1016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41579" y="3496665"/>
            <a:ext cx="595191" cy="1111910"/>
          </a:xfrm>
          <a:prstGeom prst="rect">
            <a:avLst/>
          </a:prstGeom>
          <a:solidFill>
            <a:srgbClr val="E7EEF8"/>
          </a:solidFill>
          <a:ln w="1016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336770" y="2999232"/>
            <a:ext cx="595191" cy="1609343"/>
          </a:xfrm>
          <a:prstGeom prst="rect">
            <a:avLst/>
          </a:prstGeom>
          <a:solidFill>
            <a:srgbClr val="E7EEF8"/>
          </a:solidFill>
          <a:ln w="1016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31962" y="2852928"/>
            <a:ext cx="595191" cy="1755648"/>
          </a:xfrm>
          <a:prstGeom prst="rect">
            <a:avLst/>
          </a:prstGeom>
          <a:solidFill>
            <a:srgbClr val="E7EEF8"/>
          </a:solidFill>
          <a:ln w="1016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27153" y="2472537"/>
            <a:ext cx="595191" cy="2136038"/>
          </a:xfrm>
          <a:prstGeom prst="rect">
            <a:avLst/>
          </a:prstGeom>
          <a:solidFill>
            <a:srgbClr val="E7EEF8"/>
          </a:solidFill>
          <a:ln w="1016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122344" y="2472537"/>
            <a:ext cx="595191" cy="2136038"/>
          </a:xfrm>
          <a:prstGeom prst="rect">
            <a:avLst/>
          </a:prstGeom>
          <a:solidFill>
            <a:srgbClr val="E7EEF8"/>
          </a:solidFill>
          <a:ln w="10160">
            <a:solidFill>
              <a:srgbClr val="E7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1170432" y="3891686"/>
            <a:ext cx="595191" cy="87782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765623" y="3862425"/>
            <a:ext cx="595191" cy="117043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60814" y="3862425"/>
            <a:ext cx="595191" cy="29261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956005" y="3555187"/>
            <a:ext cx="595192" cy="336499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551197" y="3555187"/>
            <a:ext cx="595191" cy="29261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146388" y="3584448"/>
            <a:ext cx="595191" cy="43891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741579" y="3496665"/>
            <a:ext cx="595191" cy="131674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336770" y="2999232"/>
            <a:ext cx="595192" cy="497433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931962" y="2852928"/>
            <a:ext cx="595191" cy="146304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527153" y="2472537"/>
            <a:ext cx="595191" cy="380391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122344" y="2472537"/>
            <a:ext cx="595192" cy="409651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138428" y="3859682"/>
            <a:ext cx="64008" cy="6400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7552" y="4745736"/>
            <a:ext cx="365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0">
                <a:solidFill>
                  <a:srgbClr val="5B6D87"/>
                </a:solidFill>
                <a:latin typeface="Aptos Mono"/>
              </a:rPr>
              <a:t>Jan</a:t>
            </a:r>
          </a:p>
        </p:txBody>
      </p:sp>
      <p:sp>
        <p:nvSpPr>
          <p:cNvPr id="47" name="Oval 46"/>
          <p:cNvSpPr/>
          <p:nvPr/>
        </p:nvSpPr>
        <p:spPr>
          <a:xfrm>
            <a:off x="1733619" y="3947464"/>
            <a:ext cx="64008" cy="6400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582743" y="4745736"/>
            <a:ext cx="365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0">
                <a:solidFill>
                  <a:srgbClr val="5B6D87"/>
                </a:solidFill>
                <a:latin typeface="Aptos Mono"/>
              </a:rPr>
              <a:t>Feb</a:t>
            </a:r>
          </a:p>
        </p:txBody>
      </p:sp>
      <p:sp>
        <p:nvSpPr>
          <p:cNvPr id="49" name="Oval 48"/>
          <p:cNvSpPr/>
          <p:nvPr/>
        </p:nvSpPr>
        <p:spPr>
          <a:xfrm>
            <a:off x="2328810" y="3830421"/>
            <a:ext cx="64008" cy="6400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177934" y="4745736"/>
            <a:ext cx="365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0">
                <a:solidFill>
                  <a:srgbClr val="5B6D87"/>
                </a:solidFill>
                <a:latin typeface="Aptos Mono"/>
              </a:rPr>
              <a:t>Mar</a:t>
            </a:r>
          </a:p>
        </p:txBody>
      </p:sp>
      <p:sp>
        <p:nvSpPr>
          <p:cNvPr id="51" name="Oval 50"/>
          <p:cNvSpPr/>
          <p:nvPr/>
        </p:nvSpPr>
        <p:spPr>
          <a:xfrm>
            <a:off x="2924001" y="3859682"/>
            <a:ext cx="64008" cy="6400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73125" y="4745736"/>
            <a:ext cx="365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0">
                <a:solidFill>
                  <a:srgbClr val="5B6D87"/>
                </a:solidFill>
                <a:latin typeface="Aptos Mono"/>
              </a:rPr>
              <a:t>Apr</a:t>
            </a:r>
          </a:p>
        </p:txBody>
      </p:sp>
      <p:sp>
        <p:nvSpPr>
          <p:cNvPr id="53" name="Oval 52"/>
          <p:cNvSpPr/>
          <p:nvPr/>
        </p:nvSpPr>
        <p:spPr>
          <a:xfrm>
            <a:off x="3519193" y="3523183"/>
            <a:ext cx="64008" cy="6400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68317" y="4745736"/>
            <a:ext cx="365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0">
                <a:solidFill>
                  <a:srgbClr val="5B6D87"/>
                </a:solidFill>
                <a:latin typeface="Aptos Mono"/>
              </a:rPr>
              <a:t>May</a:t>
            </a:r>
          </a:p>
        </p:txBody>
      </p:sp>
      <p:sp>
        <p:nvSpPr>
          <p:cNvPr id="55" name="Oval 54"/>
          <p:cNvSpPr/>
          <p:nvPr/>
        </p:nvSpPr>
        <p:spPr>
          <a:xfrm>
            <a:off x="4114384" y="3552444"/>
            <a:ext cx="64008" cy="6400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63508" y="4745736"/>
            <a:ext cx="365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0">
                <a:solidFill>
                  <a:srgbClr val="5B6D87"/>
                </a:solidFill>
                <a:latin typeface="Aptos Mono"/>
              </a:rPr>
              <a:t>Jun</a:t>
            </a:r>
          </a:p>
        </p:txBody>
      </p:sp>
      <p:sp>
        <p:nvSpPr>
          <p:cNvPr id="57" name="Oval 56"/>
          <p:cNvSpPr/>
          <p:nvPr/>
        </p:nvSpPr>
        <p:spPr>
          <a:xfrm>
            <a:off x="4709575" y="3596335"/>
            <a:ext cx="64008" cy="6400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58699" y="4745736"/>
            <a:ext cx="365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0">
                <a:solidFill>
                  <a:srgbClr val="5B6D87"/>
                </a:solidFill>
                <a:latin typeface="Aptos Mono"/>
              </a:rPr>
              <a:t>Jul</a:t>
            </a:r>
          </a:p>
        </p:txBody>
      </p:sp>
      <p:sp>
        <p:nvSpPr>
          <p:cNvPr id="59" name="Oval 58"/>
          <p:cNvSpPr/>
          <p:nvPr/>
        </p:nvSpPr>
        <p:spPr>
          <a:xfrm>
            <a:off x="5304766" y="3464661"/>
            <a:ext cx="64008" cy="6400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153890" y="4745736"/>
            <a:ext cx="365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0">
                <a:solidFill>
                  <a:srgbClr val="5B6D87"/>
                </a:solidFill>
                <a:latin typeface="Aptos Mono"/>
              </a:rPr>
              <a:t>Aug</a:t>
            </a:r>
          </a:p>
        </p:txBody>
      </p:sp>
      <p:sp>
        <p:nvSpPr>
          <p:cNvPr id="61" name="Oval 60"/>
          <p:cNvSpPr/>
          <p:nvPr/>
        </p:nvSpPr>
        <p:spPr>
          <a:xfrm>
            <a:off x="5899958" y="2967228"/>
            <a:ext cx="64008" cy="6400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49082" y="4745736"/>
            <a:ext cx="365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0">
                <a:solidFill>
                  <a:srgbClr val="5B6D87"/>
                </a:solidFill>
                <a:latin typeface="Aptos Mono"/>
              </a:rPr>
              <a:t>Sep</a:t>
            </a:r>
          </a:p>
        </p:txBody>
      </p:sp>
      <p:sp>
        <p:nvSpPr>
          <p:cNvPr id="63" name="Oval 62"/>
          <p:cNvSpPr/>
          <p:nvPr/>
        </p:nvSpPr>
        <p:spPr>
          <a:xfrm>
            <a:off x="6495149" y="2820924"/>
            <a:ext cx="64008" cy="6400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44273" y="4745736"/>
            <a:ext cx="365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0">
                <a:solidFill>
                  <a:srgbClr val="5B6D87"/>
                </a:solidFill>
                <a:latin typeface="Aptos Mono"/>
              </a:rPr>
              <a:t>Oct</a:t>
            </a:r>
          </a:p>
        </p:txBody>
      </p:sp>
      <p:sp>
        <p:nvSpPr>
          <p:cNvPr id="65" name="Oval 64"/>
          <p:cNvSpPr/>
          <p:nvPr/>
        </p:nvSpPr>
        <p:spPr>
          <a:xfrm>
            <a:off x="7090340" y="2440533"/>
            <a:ext cx="64008" cy="64008"/>
          </a:xfrm>
          <a:prstGeom prst="ellipse">
            <a:avLst/>
          </a:prstGeom>
          <a:solidFill>
            <a:srgbClr val="145BB5"/>
          </a:solidFill>
          <a:ln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39464" y="4745736"/>
            <a:ext cx="365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0">
                <a:solidFill>
                  <a:srgbClr val="5B6D87"/>
                </a:solidFill>
                <a:latin typeface="Aptos Mono"/>
              </a:rPr>
              <a:t>Nov</a:t>
            </a:r>
          </a:p>
        </p:txBody>
      </p:sp>
      <p:sp>
        <p:nvSpPr>
          <p:cNvPr id="67" name="Oval 66"/>
          <p:cNvSpPr/>
          <p:nvPr/>
        </p:nvSpPr>
        <p:spPr>
          <a:xfrm>
            <a:off x="7685531" y="2850184"/>
            <a:ext cx="64008" cy="6400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534656" y="4745736"/>
            <a:ext cx="3657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0" b="0">
                <a:solidFill>
                  <a:srgbClr val="5B6D87"/>
                </a:solidFill>
                <a:latin typeface="Aptos Mono"/>
              </a:rPr>
              <a:t>Dec*</a:t>
            </a:r>
          </a:p>
        </p:txBody>
      </p:sp>
      <p:sp>
        <p:nvSpPr>
          <p:cNvPr id="69" name="Oval 68"/>
          <p:cNvSpPr/>
          <p:nvPr/>
        </p:nvSpPr>
        <p:spPr>
          <a:xfrm>
            <a:off x="7076624" y="2426817"/>
            <a:ext cx="91440" cy="91440"/>
          </a:xfrm>
          <a:prstGeom prst="ellipse">
            <a:avLst/>
          </a:prstGeom>
          <a:solidFill>
            <a:srgbClr val="EF7718"/>
          </a:solidFill>
          <a:ln>
            <a:solidFill>
              <a:srgbClr val="EF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619424" y="2304288"/>
            <a:ext cx="1005840" cy="246888"/>
          </a:xfrm>
          <a:prstGeom prst="rect">
            <a:avLst/>
          </a:prstGeom>
          <a:solidFill>
            <a:srgbClr val="FDEFE1"/>
          </a:solidFill>
          <a:ln w="10160">
            <a:solidFill>
              <a:srgbClr val="FD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692576" y="2368296"/>
            <a:ext cx="859536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80" b="1">
                <a:solidFill>
                  <a:srgbClr val="EF7718"/>
                </a:solidFill>
                <a:latin typeface="Aptos Mono"/>
              </a:rPr>
              <a:t>Nov: £1.46M peak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7122344" y="2472537"/>
            <a:ext cx="0" cy="78639"/>
          </a:xfrm>
          <a:prstGeom prst="line">
            <a:avLst/>
          </a:prstGeom>
          <a:ln w="12700">
            <a:solidFill>
              <a:srgbClr val="EF7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168896" y="4041648"/>
            <a:ext cx="596317" cy="1000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0" dirty="0">
                <a:solidFill>
                  <a:srgbClr val="D63B36"/>
                </a:solidFill>
                <a:latin typeface="Aptos Mono"/>
              </a:rPr>
              <a:t>Dec: partial</a:t>
            </a:r>
          </a:p>
        </p:txBody>
      </p:sp>
      <p:cxnSp>
        <p:nvCxnSpPr>
          <p:cNvPr id="74" name="Connector 73"/>
          <p:cNvCxnSpPr/>
          <p:nvPr/>
        </p:nvCxnSpPr>
        <p:spPr>
          <a:xfrm flipH="1">
            <a:off x="7278623" y="2882188"/>
            <a:ext cx="438913" cy="1177748"/>
          </a:xfrm>
          <a:prstGeom prst="line">
            <a:avLst/>
          </a:prstGeom>
          <a:ln w="10160">
            <a:solidFill>
              <a:srgbClr val="D6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58368" y="4928616"/>
            <a:ext cx="42062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BE3A48"/>
                </a:solidFill>
                <a:latin typeface="Aptos Mono"/>
              </a:rPr>
              <a:t>* December 2011 is a partial reporting period — not comparable to full months.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93024" y="1700784"/>
            <a:ext cx="2560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1">
                <a:solidFill>
                  <a:srgbClr val="5B6D87"/>
                </a:solidFill>
                <a:latin typeface="Aptos Mono"/>
              </a:rPr>
              <a:t>TOP GEOGRAPHIES — REVENUE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11312" y="1975104"/>
            <a:ext cx="96012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1F2E4D"/>
                </a:solidFill>
                <a:latin typeface="Aptos"/>
              </a:rPr>
              <a:t>United Kingdom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87968" y="1984248"/>
            <a:ext cx="2331720" cy="13716"/>
          </a:xfrm>
          <a:prstGeom prst="rect">
            <a:avLst/>
          </a:prstGeom>
          <a:solidFill>
            <a:srgbClr val="E1E5EB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887968" y="1975104"/>
            <a:ext cx="2331720" cy="128016"/>
          </a:xfrm>
          <a:prstGeom prst="rect">
            <a:avLst/>
          </a:prstGeom>
          <a:solidFill>
            <a:schemeClr val="tx2">
              <a:lumMod val="75000"/>
            </a:schemeClr>
          </a:solidFill>
          <a:ln w="10160"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237976" y="1965960"/>
            <a:ext cx="3108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0">
                <a:solidFill>
                  <a:srgbClr val="1F2E4D"/>
                </a:solidFill>
                <a:latin typeface="Aptos Mono"/>
              </a:rPr>
              <a:t>£8.19M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11312" y="2295144"/>
            <a:ext cx="96012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>
                <a:solidFill>
                  <a:srgbClr val="1F2E4D"/>
                </a:solidFill>
                <a:latin typeface="Aptos"/>
              </a:rPr>
              <a:t>Netherlands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87968" y="2304287"/>
            <a:ext cx="2331720" cy="13716"/>
          </a:xfrm>
          <a:prstGeom prst="rect">
            <a:avLst/>
          </a:prstGeom>
          <a:solidFill>
            <a:srgbClr val="E1E5EB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887968" y="2295144"/>
            <a:ext cx="81143" cy="12801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0160">
            <a:solidFill>
              <a:srgbClr val="1F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237976" y="2286000"/>
            <a:ext cx="3108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0">
                <a:solidFill>
                  <a:srgbClr val="1F2E4D"/>
                </a:solidFill>
                <a:latin typeface="Aptos Mono"/>
              </a:rPr>
              <a:t>£284.7K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11312" y="2615184"/>
            <a:ext cx="96012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>
                <a:solidFill>
                  <a:srgbClr val="1F2E4D"/>
                </a:solidFill>
                <a:latin typeface="Aptos"/>
              </a:rPr>
              <a:t>EIRE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887968" y="2624327"/>
            <a:ext cx="2331720" cy="13716"/>
          </a:xfrm>
          <a:prstGeom prst="rect">
            <a:avLst/>
          </a:prstGeom>
          <a:solidFill>
            <a:srgbClr val="E1E5EB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887968" y="2615184"/>
            <a:ext cx="74848" cy="12801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0160">
            <a:solidFill>
              <a:srgbClr val="1F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237976" y="2606040"/>
            <a:ext cx="3108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0">
                <a:solidFill>
                  <a:srgbClr val="1F2E4D"/>
                </a:solidFill>
                <a:latin typeface="Aptos Mono"/>
              </a:rPr>
              <a:t>£263.0K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11312" y="2935224"/>
            <a:ext cx="96012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>
                <a:solidFill>
                  <a:srgbClr val="1F2E4D"/>
                </a:solidFill>
                <a:latin typeface="Aptos"/>
              </a:rPr>
              <a:t>Germany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887968" y="2944368"/>
            <a:ext cx="2331720" cy="13716"/>
          </a:xfrm>
          <a:prstGeom prst="rect">
            <a:avLst/>
          </a:prstGeom>
          <a:solidFill>
            <a:srgbClr val="E1E5EB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8887968" y="2935224"/>
            <a:ext cx="63189" cy="1280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0160">
            <a:solidFill>
              <a:srgbClr val="1F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237976" y="2926080"/>
            <a:ext cx="3108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0">
                <a:solidFill>
                  <a:srgbClr val="1F2E4D"/>
                </a:solidFill>
                <a:latin typeface="Aptos Mono"/>
              </a:rPr>
              <a:t>£221.5K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11312" y="3255264"/>
            <a:ext cx="96012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>
                <a:solidFill>
                  <a:srgbClr val="1F2E4D"/>
                </a:solidFill>
                <a:latin typeface="Aptos"/>
              </a:rPr>
              <a:t>France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887968" y="3264408"/>
            <a:ext cx="2331720" cy="13716"/>
          </a:xfrm>
          <a:prstGeom prst="rect">
            <a:avLst/>
          </a:prstGeom>
          <a:solidFill>
            <a:srgbClr val="E1E5EB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887968" y="3255264"/>
            <a:ext cx="56194" cy="128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1F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1237976" y="3246120"/>
            <a:ext cx="31089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0">
                <a:solidFill>
                  <a:srgbClr val="1F2E4D"/>
                </a:solidFill>
                <a:latin typeface="Aptos Mono"/>
              </a:rPr>
              <a:t>£197.3K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8193024" y="3410712"/>
            <a:ext cx="3191256" cy="0"/>
          </a:xfrm>
          <a:prstGeom prst="line">
            <a:avLst/>
          </a:prstGeom>
          <a:ln w="10160">
            <a:solidFill>
              <a:srgbClr val="1F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8193024" y="3712463"/>
            <a:ext cx="22860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1">
                <a:solidFill>
                  <a:srgbClr val="5B6D87"/>
                </a:solidFill>
                <a:latin typeface="Aptos Mono"/>
              </a:rPr>
              <a:t>MARKET CONCENTRATION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77656" y="4407408"/>
            <a:ext cx="493776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50" b="1" dirty="0">
                <a:solidFill>
                  <a:srgbClr val="1F2E4D"/>
                </a:solidFill>
                <a:latin typeface="Aptos Mono"/>
              </a:rPr>
              <a:t>84%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07333" y="4608576"/>
            <a:ext cx="219456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550" b="0" dirty="0">
                <a:solidFill>
                  <a:srgbClr val="5B6D87"/>
                </a:solidFill>
                <a:latin typeface="Aptos Mono"/>
              </a:rPr>
              <a:t>UK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29800" y="4069080"/>
            <a:ext cx="50292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0" b="1">
                <a:solidFill>
                  <a:srgbClr val="5B6D87"/>
                </a:solidFill>
                <a:latin typeface="Aptos Mono"/>
              </a:rPr>
              <a:t>SHARE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838944" y="4288536"/>
            <a:ext cx="64008" cy="64008"/>
          </a:xfrm>
          <a:prstGeom prst="rect">
            <a:avLst/>
          </a:prstGeom>
          <a:solidFill>
            <a:srgbClr val="145BB5"/>
          </a:solidFill>
          <a:ln>
            <a:solidFill>
              <a:srgbClr val="14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957816" y="4261104"/>
            <a:ext cx="1371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>
                <a:solidFill>
                  <a:srgbClr val="1F2E4D"/>
                </a:solidFill>
                <a:latin typeface="Aptos"/>
              </a:rPr>
              <a:t>United Kingdom — 84.0%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38944" y="4498848"/>
            <a:ext cx="64008" cy="64008"/>
          </a:xfrm>
          <a:prstGeom prst="rect">
            <a:avLst/>
          </a:prstGeom>
          <a:solidFill>
            <a:srgbClr val="EF7718"/>
          </a:solidFill>
          <a:ln>
            <a:solidFill>
              <a:srgbClr val="EF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957816" y="4471416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>
                <a:solidFill>
                  <a:srgbClr val="1F2E4D"/>
                </a:solidFill>
                <a:latin typeface="Aptos"/>
              </a:rPr>
              <a:t>Rest of world — 16.0%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838944" y="4736592"/>
            <a:ext cx="15544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>
                <a:solidFill>
                  <a:srgbClr val="5B6D87"/>
                </a:solidFill>
                <a:latin typeface="Aptos"/>
              </a:rPr>
              <a:t>Diversification into NL / EIRE / Germany /
France is the most actionable structural
lever.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93776" y="5568696"/>
            <a:ext cx="11119103" cy="621792"/>
          </a:xfrm>
          <a:prstGeom prst="rect">
            <a:avLst/>
          </a:prstGeom>
          <a:solidFill>
            <a:srgbClr val="F7F8FA"/>
          </a:solidFill>
          <a:ln w="10160"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493776" y="5568696"/>
            <a:ext cx="22860" cy="621792"/>
          </a:xfrm>
          <a:prstGeom prst="rect">
            <a:avLst/>
          </a:prstGeom>
          <a:solidFill>
            <a:srgbClr val="EF7718"/>
          </a:solidFill>
          <a:ln w="10160">
            <a:solidFill>
              <a:srgbClr val="EF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85800" y="5769864"/>
            <a:ext cx="5943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1">
                <a:solidFill>
                  <a:srgbClr val="EF7718"/>
                </a:solidFill>
                <a:latin typeface="Aptos Mono"/>
              </a:rPr>
              <a:t>TAKEAWAY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98448" y="5705856"/>
            <a:ext cx="1001268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1F2E4D"/>
                </a:solidFill>
                <a:latin typeface="Aptos"/>
              </a:rPr>
              <a:t>Revenue is highly concentrated in the UK; the strongest international markets show clear expansion room. Demand accelerates sharply toward year-end, with November as the
highest full month and December a partial reporting period.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018520" y="6519672"/>
            <a:ext cx="713232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0">
                <a:solidFill>
                  <a:srgbClr val="5B6D87"/>
                </a:solidFill>
                <a:latin typeface="Aptos Mono"/>
              </a:rPr>
              <a:t>05   /   10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07AC1E2-91DE-102C-6392-B1E13760EDC5}"/>
              </a:ext>
            </a:extLst>
          </p:cNvPr>
          <p:cNvSpPr/>
          <p:nvPr/>
        </p:nvSpPr>
        <p:spPr>
          <a:xfrm>
            <a:off x="506277" y="987552"/>
            <a:ext cx="576000" cy="36000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36C2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6CEB748-73C1-3970-68A3-B2EF5C008195}"/>
              </a:ext>
            </a:extLst>
          </p:cNvPr>
          <p:cNvSpPr txBox="1"/>
          <p:nvPr/>
        </p:nvSpPr>
        <p:spPr>
          <a:xfrm>
            <a:off x="533400" y="6391274"/>
            <a:ext cx="1112520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0" i="0" u="none" dirty="0">
                <a:solidFill>
                  <a:srgbClr val="94A3B8"/>
                </a:solidFill>
                <a:latin typeface="Inter SemiBold"/>
              </a:rPr>
              <a:t>06 / 12 · REVENUE PERFORMANCE</a:t>
            </a:r>
          </a:p>
        </p:txBody>
      </p:sp>
      <p:graphicFrame>
        <p:nvGraphicFramePr>
          <p:cNvPr id="125" name="Chart 124">
            <a:extLst>
              <a:ext uri="{FF2B5EF4-FFF2-40B4-BE49-F238E27FC236}">
                <a16:creationId xmlns:a16="http://schemas.microsoft.com/office/drawing/2014/main" id="{1F8F4ADA-410A-B19A-E3B3-BA6632D16C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7074965"/>
              </p:ext>
            </p:extLst>
          </p:nvPr>
        </p:nvGraphicFramePr>
        <p:xfrm>
          <a:off x="8047705" y="3822871"/>
          <a:ext cx="1719748" cy="1334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1F2D4E"/>
          </a:solidFill>
          <a:ln w="10160">
            <a:solidFill>
              <a:srgbClr val="1F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347472"/>
            <a:ext cx="3844001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850" b="1" dirty="0">
                <a:solidFill>
                  <a:srgbClr val="EF7718"/>
                </a:solidFill>
                <a:latin typeface="Aptos Mono"/>
              </a:rPr>
              <a:t>07 </a:t>
            </a:r>
            <a:r>
              <a:rPr sz="850" b="1" spc="300" dirty="0">
                <a:solidFill>
                  <a:srgbClr val="EF7718"/>
                </a:solidFill>
                <a:latin typeface="Aptos Mono"/>
              </a:rPr>
              <a:t>PRODUCT PERFORMANCE &amp; CONCENTRATION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2216" y="522654"/>
            <a:ext cx="1097280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dirty="0">
                <a:solidFill>
                  <a:srgbClr val="1F2E4D"/>
                </a:solidFill>
                <a:latin typeface="Georgia"/>
              </a:rPr>
              <a:t>Units leader and revenue leader are not the same SKU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1097280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E4D"/>
                </a:solidFill>
                <a:latin typeface="Aptos"/>
              </a:rPr>
              <a:t>The top product by unit volume and the top by revenue differ, and the top 10 SKUs contribute only ~9.9% of total revenue. Concentration is low — the portfolio is broadly distributed.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545336"/>
            <a:ext cx="5715000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64224" y="1545336"/>
            <a:ext cx="5559552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073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700784"/>
            <a:ext cx="29260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1">
                <a:solidFill>
                  <a:srgbClr val="5B6D87"/>
                </a:solidFill>
                <a:latin typeface="Aptos Mono"/>
              </a:rPr>
              <a:t>TOP PRODUCTS BY UNITS SOLD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901952"/>
            <a:ext cx="4297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0">
                <a:solidFill>
                  <a:srgbClr val="5B6D87"/>
                </a:solidFill>
                <a:latin typeface="Aptos"/>
              </a:rPr>
              <a:t>53,751 units of WWII glider design leads by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212848"/>
            <a:ext cx="148132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65" b="0">
                <a:solidFill>
                  <a:srgbClr val="1F2E4D"/>
                </a:solidFill>
                <a:latin typeface="Aptos"/>
              </a:rPr>
              <a:t>WORLD WAR 2 GLIDERS ASSTD DESIGNS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99232" y="2295144"/>
            <a:ext cx="2779776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99232" y="2226564"/>
            <a:ext cx="2779776" cy="132588"/>
          </a:xfrm>
          <a:prstGeom prst="rect">
            <a:avLst/>
          </a:prstGeom>
          <a:solidFill>
            <a:srgbClr val="073256"/>
          </a:solidFill>
          <a:ln w="10160">
            <a:solidFill>
              <a:srgbClr val="073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24728" y="2217420"/>
            <a:ext cx="307777" cy="101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1" dirty="0">
                <a:solidFill>
                  <a:srgbClr val="1F2E4D"/>
                </a:solidFill>
                <a:latin typeface="Aptos Mono"/>
              </a:rPr>
              <a:t>53,751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500884"/>
            <a:ext cx="148132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65" b="0">
                <a:solidFill>
                  <a:srgbClr val="1F2E4D"/>
                </a:solidFill>
                <a:latin typeface="Aptos"/>
              </a:rPr>
              <a:t>RACK POPCORN HOLDER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2583179"/>
            <a:ext cx="2779776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99232" y="2514600"/>
            <a:ext cx="1937429" cy="132588"/>
          </a:xfrm>
          <a:prstGeom prst="rect">
            <a:avLst/>
          </a:prstGeom>
          <a:solidFill>
            <a:schemeClr val="tx2">
              <a:lumMod val="75000"/>
            </a:schemeClr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2381" y="2505456"/>
            <a:ext cx="5486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135BB7"/>
                </a:solidFill>
                <a:latin typeface="Aptos Mono"/>
              </a:rPr>
              <a:t>37,463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2788920"/>
            <a:ext cx="148132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65" b="0">
                <a:solidFill>
                  <a:srgbClr val="1F2E4D"/>
                </a:solidFill>
                <a:latin typeface="Aptos"/>
              </a:rPr>
              <a:t>JUMBO BAG RED RETROSPOT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2871215"/>
            <a:ext cx="2779776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999232" y="2802636"/>
            <a:ext cx="1823602" cy="1325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68554" y="2793491"/>
            <a:ext cx="5486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135BB7"/>
                </a:solidFill>
                <a:latin typeface="Aptos Mono"/>
              </a:rPr>
              <a:t>35,262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3076956"/>
            <a:ext cx="148132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65" b="0">
                <a:solidFill>
                  <a:srgbClr val="1F2E4D"/>
                </a:solidFill>
                <a:latin typeface="Aptos"/>
              </a:rPr>
              <a:t>ASSORTED COLOUR BIRD ORNAMENT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99232" y="3159252"/>
            <a:ext cx="2779776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999232" y="3090672"/>
            <a:ext cx="1814293" cy="13258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59245" y="3081528"/>
            <a:ext cx="5486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135BB7"/>
                </a:solidFill>
                <a:latin typeface="Aptos Mono"/>
              </a:rPr>
              <a:t>35,082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3364991"/>
            <a:ext cx="148132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65" b="0">
                <a:solidFill>
                  <a:srgbClr val="1F2E4D"/>
                </a:solidFill>
                <a:latin typeface="Aptos"/>
              </a:rPr>
              <a:t>WHITE HANGING HEART T-LIGHT HOLDER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99232" y="3447287"/>
            <a:ext cx="2779776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999232" y="3378708"/>
            <a:ext cx="1640683" cy="1325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85635" y="3369563"/>
            <a:ext cx="5486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135BB7"/>
                </a:solidFill>
                <a:latin typeface="Aptos Mono"/>
              </a:rPr>
              <a:t>31,725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" y="3653028"/>
            <a:ext cx="148132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65" b="0">
                <a:solidFill>
                  <a:srgbClr val="1F2E4D"/>
                </a:solidFill>
                <a:latin typeface="Aptos"/>
              </a:rPr>
              <a:t>PACK OF 72 SKULL CAKE CASES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999232" y="3735324"/>
            <a:ext cx="2779776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999232" y="3666744"/>
            <a:ext cx="1496138" cy="13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41090" y="3657600"/>
            <a:ext cx="5486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135BB7"/>
                </a:solidFill>
                <a:latin typeface="Aptos Mono"/>
              </a:rPr>
              <a:t>28,930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752" y="3941064"/>
            <a:ext cx="148132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65" b="0">
                <a:solidFill>
                  <a:srgbClr val="1F2E4D"/>
                </a:solidFill>
                <a:latin typeface="Aptos"/>
              </a:rPr>
              <a:t>DAILY ORGANISER WALL ART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999232" y="4023360"/>
            <a:ext cx="2779776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999232" y="3954780"/>
            <a:ext cx="1176534" cy="13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21486" y="3945636"/>
            <a:ext cx="5486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135BB7"/>
                </a:solidFill>
                <a:latin typeface="Aptos Mono"/>
              </a:rPr>
              <a:t>22,750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999232" y="4416552"/>
            <a:ext cx="2779776" cy="0"/>
          </a:xfrm>
          <a:prstGeom prst="line">
            <a:avLst/>
          </a:prstGeom>
          <a:ln w="10160">
            <a:solidFill>
              <a:srgbClr val="1F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999232" y="4498848"/>
            <a:ext cx="22860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20" b="0">
                <a:solidFill>
                  <a:srgbClr val="5B6D87"/>
                </a:solidFill>
                <a:latin typeface="Aptos Mono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2544" y="4498848"/>
            <a:ext cx="32004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20" b="0">
                <a:solidFill>
                  <a:srgbClr val="5B6D87"/>
                </a:solidFill>
                <a:latin typeface="Aptos Mono"/>
              </a:rPr>
              <a:t>25k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22392" y="4498848"/>
            <a:ext cx="50292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20" b="0">
                <a:solidFill>
                  <a:srgbClr val="5B6D87"/>
                </a:solidFill>
                <a:latin typeface="Aptos Mono"/>
              </a:rPr>
              <a:t>50k units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9672" y="1700784"/>
            <a:ext cx="2743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1">
                <a:solidFill>
                  <a:srgbClr val="5B6D87"/>
                </a:solidFill>
                <a:latin typeface="Aptos Mono"/>
              </a:rPr>
              <a:t>TOP PRODUCTS BY REVENUE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9672" y="1901952"/>
            <a:ext cx="46634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0">
                <a:solidFill>
                  <a:srgbClr val="5B6D87"/>
                </a:solidFill>
                <a:latin typeface="Aptos"/>
              </a:rPr>
              <a:t>DOTCOM POSTAGE leads at £206.2K — a non-product SKU that captures shipping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11696" y="2212848"/>
            <a:ext cx="166420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65" b="0">
                <a:solidFill>
                  <a:srgbClr val="1F2E4D"/>
                </a:solidFill>
                <a:latin typeface="Aptos"/>
              </a:rPr>
              <a:t>DOTCOM POSTAGE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67344" y="2295144"/>
            <a:ext cx="3063240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467344" y="2226564"/>
            <a:ext cx="3063240" cy="132588"/>
          </a:xfrm>
          <a:prstGeom prst="rect">
            <a:avLst/>
          </a:prstGeom>
          <a:solidFill>
            <a:srgbClr val="073256"/>
          </a:solidFill>
          <a:ln w="10160">
            <a:solidFill>
              <a:srgbClr val="073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576304" y="2217420"/>
            <a:ext cx="359073" cy="101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1" dirty="0">
                <a:solidFill>
                  <a:srgbClr val="1F2E4D"/>
                </a:solidFill>
                <a:latin typeface="Aptos Mono"/>
              </a:rPr>
              <a:t>£206.2K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11696" y="2500884"/>
            <a:ext cx="166420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65" b="0">
                <a:solidFill>
                  <a:srgbClr val="1F2E4D"/>
                </a:solidFill>
                <a:latin typeface="Aptos"/>
              </a:rPr>
              <a:t>WHITE HANGING HEART T-LIGHT HOLDER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467344" y="2583179"/>
            <a:ext cx="3063240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467344" y="2514600"/>
            <a:ext cx="1555389" cy="132588"/>
          </a:xfrm>
          <a:prstGeom prst="rect">
            <a:avLst/>
          </a:prstGeom>
          <a:solidFill>
            <a:schemeClr val="tx2">
              <a:lumMod val="75000"/>
            </a:schemeClr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68453" y="2505456"/>
            <a:ext cx="5486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135BB7"/>
                </a:solidFill>
                <a:latin typeface="Aptos Mono"/>
              </a:rPr>
              <a:t>£104.7K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11696" y="2788920"/>
            <a:ext cx="166420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65" b="0">
                <a:solidFill>
                  <a:srgbClr val="1F2E4D"/>
                </a:solidFill>
                <a:latin typeface="Aptos"/>
              </a:rPr>
              <a:t>REGENCY CAKESTAND 3 TIER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467344" y="2871215"/>
            <a:ext cx="3063240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8467344" y="2802636"/>
            <a:ext cx="1491509" cy="1325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04573" y="2793491"/>
            <a:ext cx="5486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135BB7"/>
                </a:solidFill>
                <a:latin typeface="Aptos Mono"/>
              </a:rPr>
              <a:t>£100.4K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11696" y="3076956"/>
            <a:ext cx="166420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65" b="0">
                <a:solidFill>
                  <a:srgbClr val="1F2E4D"/>
                </a:solidFill>
                <a:latin typeface="Aptos"/>
              </a:rPr>
              <a:t>JUMBO BAG RED RETROSPOT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467344" y="3159252"/>
            <a:ext cx="3063240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8467344" y="3090672"/>
            <a:ext cx="1351866" cy="13258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864930" y="3081528"/>
            <a:ext cx="5486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135BB7"/>
                </a:solidFill>
                <a:latin typeface="Aptos Mono"/>
              </a:rPr>
              <a:t>£91.0K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11696" y="3364991"/>
            <a:ext cx="166420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65" b="0">
                <a:solidFill>
                  <a:srgbClr val="1F2E4D"/>
                </a:solidFill>
                <a:latin typeface="Aptos"/>
              </a:rPr>
              <a:t>ASSORTED COLOUR BIRD ORNAMENT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467344" y="3447287"/>
            <a:ext cx="3063240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467344" y="3378708"/>
            <a:ext cx="1322154" cy="1325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835218" y="3369563"/>
            <a:ext cx="5486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135BB7"/>
                </a:solidFill>
                <a:latin typeface="Aptos Mono"/>
              </a:rPr>
              <a:t>£89.0K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11696" y="3653028"/>
            <a:ext cx="166420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65" b="0">
                <a:solidFill>
                  <a:srgbClr val="1F2E4D"/>
                </a:solidFill>
                <a:latin typeface="Aptos"/>
              </a:rPr>
              <a:t>RACK POPCORN HOLDER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467344" y="3735324"/>
            <a:ext cx="3063240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8467344" y="3666744"/>
            <a:ext cx="1188453" cy="13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701517" y="3657600"/>
            <a:ext cx="5486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135BB7"/>
                </a:solidFill>
                <a:latin typeface="Aptos Mono"/>
              </a:rPr>
              <a:t>£80.0K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467344" y="4416552"/>
            <a:ext cx="3063240" cy="0"/>
          </a:xfrm>
          <a:prstGeom prst="line">
            <a:avLst/>
          </a:prstGeom>
          <a:ln w="10160">
            <a:solidFill>
              <a:srgbClr val="1F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467344" y="4498848"/>
            <a:ext cx="22860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20" b="0">
                <a:solidFill>
                  <a:srgbClr val="5B6D87"/>
                </a:solidFill>
                <a:latin typeface="Aptos Mono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12096" y="4498848"/>
            <a:ext cx="50292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20" b="0">
                <a:solidFill>
                  <a:srgbClr val="5B6D87"/>
                </a:solidFill>
                <a:latin typeface="Aptos Mono"/>
              </a:rPr>
              <a:t>£100K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27663" y="4498848"/>
            <a:ext cx="50292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20" b="0">
                <a:solidFill>
                  <a:srgbClr val="5B6D87"/>
                </a:solidFill>
                <a:latin typeface="Aptos Mono"/>
              </a:rPr>
              <a:t>£200K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3776" y="4754880"/>
            <a:ext cx="69037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9224" y="4919472"/>
            <a:ext cx="3200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1">
                <a:solidFill>
                  <a:srgbClr val="5B6D87"/>
                </a:solidFill>
                <a:latin typeface="Aptos Mono"/>
              </a:rPr>
              <a:t>VOLUME VS REVENUE — DIFFERENT LEADERS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224" y="5230368"/>
            <a:ext cx="91440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70" b="0">
                <a:solidFill>
                  <a:srgbClr val="5B6D87"/>
                </a:solidFill>
                <a:latin typeface="Aptos Mono"/>
              </a:rPr>
              <a:t>Volume leader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224" y="5413248"/>
            <a:ext cx="30175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0" b="1">
                <a:solidFill>
                  <a:srgbClr val="EF7718"/>
                </a:solidFill>
                <a:latin typeface="Aptos"/>
              </a:rPr>
              <a:t>WORLD WAR 2 GLIDERS ASSTD DESIGNS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" y="5605272"/>
            <a:ext cx="3383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1F2E4D"/>
                </a:solidFill>
                <a:latin typeface="Aptos Mono"/>
              </a:rPr>
              <a:t>53,751 units · low unit price · SIMPLE sales but high reach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24528" y="5230368"/>
            <a:ext cx="91440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70" b="0">
                <a:solidFill>
                  <a:srgbClr val="5B6D87"/>
                </a:solidFill>
                <a:latin typeface="Aptos Mono"/>
              </a:rPr>
              <a:t>Revenue leader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24528" y="5413248"/>
            <a:ext cx="21945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0" b="1">
                <a:solidFill>
                  <a:srgbClr val="EF7718"/>
                </a:solidFill>
                <a:latin typeface="Aptos"/>
              </a:rPr>
              <a:t>DOTCOM POSTAGE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24528" y="5605272"/>
            <a:ext cx="28803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1F2E4D"/>
                </a:solidFill>
                <a:latin typeface="Aptos Mono"/>
              </a:rPr>
              <a:t>£206.2K · shipping-charging SKU · not a physical product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8079" y="4754880"/>
            <a:ext cx="4425696" cy="1234440"/>
          </a:xfrm>
          <a:prstGeom prst="rect">
            <a:avLst/>
          </a:prstGeom>
          <a:solidFill>
            <a:srgbClr val="F7F8FA"/>
          </a:solidFill>
          <a:ln w="10160"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7498079" y="4754880"/>
            <a:ext cx="22860" cy="1234440"/>
          </a:xfrm>
          <a:prstGeom prst="rect">
            <a:avLst/>
          </a:prstGeom>
          <a:solidFill>
            <a:srgbClr val="135BB7"/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662672" y="4919472"/>
            <a:ext cx="2011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0" b="1">
                <a:solidFill>
                  <a:srgbClr val="5B6D87"/>
                </a:solidFill>
                <a:latin typeface="Aptos Mono"/>
              </a:rPr>
              <a:t>TOP-10 REVENUE SHARE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62672" y="5001768"/>
            <a:ext cx="881652" cy="4770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100" b="0" dirty="0">
                <a:solidFill>
                  <a:srgbClr val="1F2E4D"/>
                </a:solidFill>
                <a:latin typeface="Georgia"/>
              </a:rPr>
              <a:t>9.9%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62672" y="5532120"/>
            <a:ext cx="141732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>
                <a:solidFill>
                  <a:srgbClr val="5B6D87"/>
                </a:solidFill>
                <a:latin typeface="Aptos"/>
              </a:rPr>
              <a:t>Top 10 products contribute
~9.9% of total revenue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15984" y="5120640"/>
            <a:ext cx="2633472" cy="192024"/>
          </a:xfrm>
          <a:prstGeom prst="rect">
            <a:avLst/>
          </a:prstGeom>
          <a:solidFill>
            <a:srgbClr val="E4E7EC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015984" y="5120640"/>
            <a:ext cx="495878" cy="192024"/>
          </a:xfrm>
          <a:prstGeom prst="rect">
            <a:avLst/>
          </a:prstGeom>
          <a:solidFill>
            <a:srgbClr val="073256"/>
          </a:solidFill>
          <a:ln w="10160">
            <a:solidFill>
              <a:srgbClr val="135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A3967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048040" y="5169198"/>
            <a:ext cx="463821" cy="954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0" b="1" dirty="0">
                <a:solidFill>
                  <a:srgbClr val="FFFFFF"/>
                </a:solidFill>
                <a:latin typeface="Aptos Mono"/>
              </a:rPr>
              <a:t>9.9%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74352" y="54406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0" b="0">
                <a:solidFill>
                  <a:srgbClr val="1F2E4D"/>
                </a:solidFill>
                <a:latin typeface="Aptos"/>
              </a:rPr>
              <a:t>Rest of portfolio — 90.1% · broadly
distributed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74352" y="5742432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>
                <a:solidFill>
                  <a:srgbClr val="5B6D87"/>
                </a:solidFill>
                <a:latin typeface="Aptos"/>
              </a:rPr>
              <a:t>The long tail is doing most of the revenue work — heavy concentration in a few SKUs is not the operating risk here.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6501" y="6300216"/>
            <a:ext cx="8011809" cy="1277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IN" sz="800" b="1" dirty="0">
                <a:solidFill>
                  <a:srgbClr val="94A3B8"/>
                </a:solidFill>
                <a:latin typeface="Inter"/>
              </a:rPr>
              <a:t>07 / 12 </a:t>
            </a:r>
            <a:r>
              <a:rPr lang="en-US" sz="830" dirty="0">
                <a:solidFill>
                  <a:srgbClr val="5B6D87"/>
                </a:solidFill>
                <a:latin typeface="Aptos Mono"/>
              </a:rPr>
              <a:t>O</a:t>
            </a:r>
            <a:r>
              <a:rPr sz="830" b="0" dirty="0">
                <a:solidFill>
                  <a:srgbClr val="5B6D87"/>
                </a:solidFill>
                <a:latin typeface="Aptos Mono"/>
              </a:rPr>
              <a:t>ther product figures shown are top-of-ranking anchors used to illustrate concentration — confirm exact SKUs in workbook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84FE384-6279-989E-7B41-605AF6F52571}"/>
              </a:ext>
            </a:extLst>
          </p:cNvPr>
          <p:cNvSpPr/>
          <p:nvPr/>
        </p:nvSpPr>
        <p:spPr>
          <a:xfrm>
            <a:off x="530424" y="943566"/>
            <a:ext cx="576000" cy="36000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36C2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1F2D4E"/>
          </a:solidFill>
          <a:ln>
            <a:solidFill>
              <a:srgbClr val="1F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56616"/>
            <a:ext cx="3433632" cy="1260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1" i="0" spc="300" dirty="0">
                <a:solidFill>
                  <a:srgbClr val="EF7718"/>
                </a:solidFill>
                <a:latin typeface="Aptos Mono"/>
              </a:rPr>
              <a:t>0</a:t>
            </a:r>
            <a:r>
              <a:rPr lang="en-IN" sz="819" b="1" i="0" spc="300" dirty="0">
                <a:solidFill>
                  <a:srgbClr val="EF7718"/>
                </a:solidFill>
                <a:latin typeface="Aptos Mono"/>
              </a:rPr>
              <a:t>8</a:t>
            </a:r>
            <a:r>
              <a:rPr sz="819" b="1" i="0" spc="300" dirty="0">
                <a:solidFill>
                  <a:srgbClr val="EF7718"/>
                </a:solidFill>
                <a:latin typeface="Aptos Mono"/>
              </a:rPr>
              <a:t>  CANCELLATION &amp; REVENUE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486" y="503874"/>
            <a:ext cx="10972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 dirty="0">
                <a:solidFill>
                  <a:srgbClr val="1F2E4D"/>
                </a:solidFill>
                <a:latin typeface="Georgia"/>
              </a:rPr>
              <a:t>£0.89M of revenue vanished through the cancellation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88136"/>
            <a:ext cx="11018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0" b="0" i="0">
                <a:solidFill>
                  <a:srgbClr val="1F2E4D"/>
                </a:solidFill>
                <a:latin typeface="Aptos"/>
              </a:rPr>
              <a:t>Cancellations equal 8.4% of gross sales. Leakage worsens into year-end and peaks at £0.21M in December — around the highest-demand period, when operational pressure is greatest.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3547872" cy="1088136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32004" cy="1088136"/>
          </a:xfrm>
          <a:prstGeom prst="rect">
            <a:avLst/>
          </a:prstGeom>
          <a:solidFill>
            <a:srgbClr val="D63B36"/>
          </a:solidFill>
          <a:ln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306324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 i="0">
                <a:solidFill>
                  <a:srgbClr val="5B697E"/>
                </a:solidFill>
                <a:latin typeface="Aptos Mono"/>
              </a:rPr>
              <a:t>CANCELLATION REVENUE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353" y="1919406"/>
            <a:ext cx="1513235" cy="3770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50" b="1" i="0" dirty="0">
                <a:solidFill>
                  <a:srgbClr val="D63B36"/>
                </a:solidFill>
                <a:latin typeface="Aptos Mono"/>
              </a:rPr>
              <a:t>−£894.0K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76856"/>
            <a:ext cx="31089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 i="0">
                <a:solidFill>
                  <a:srgbClr val="5B697E"/>
                </a:solidFill>
                <a:latin typeface="Aptos"/>
              </a:rPr>
              <a:t>Total cancellation revenue removed from gross sales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1536192"/>
            <a:ext cx="3547872" cy="1088136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42816" y="1536192"/>
            <a:ext cx="32004" cy="1088136"/>
          </a:xfrm>
          <a:prstGeom prst="rect">
            <a:avLst/>
          </a:prstGeom>
          <a:solidFill>
            <a:srgbClr val="EF7718"/>
          </a:solidFill>
          <a:ln>
            <a:solidFill>
              <a:srgbClr val="EF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98264" y="1700784"/>
            <a:ext cx="306324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 i="0">
                <a:solidFill>
                  <a:srgbClr val="5B697E"/>
                </a:solidFill>
                <a:latin typeface="Aptos Mono"/>
              </a:rPr>
              <a:t>GROSS REVENUE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1938528"/>
            <a:ext cx="30632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50" b="1" i="0">
                <a:solidFill>
                  <a:srgbClr val="EF7718"/>
                </a:solidFill>
                <a:latin typeface="Aptos Mono"/>
              </a:rPr>
              <a:t>8.4%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2276856"/>
            <a:ext cx="31089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 i="0">
                <a:solidFill>
                  <a:srgbClr val="5B697E"/>
                </a:solidFill>
                <a:latin typeface="Aptos"/>
              </a:rPr>
              <a:t>Cancelled revenue as % of £10.64M gross sales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1536192"/>
            <a:ext cx="3547872" cy="1088136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73568" y="1536192"/>
            <a:ext cx="32004" cy="1088136"/>
          </a:xfrm>
          <a:prstGeom prst="rect">
            <a:avLst/>
          </a:prstGeom>
          <a:solidFill>
            <a:srgbClr val="1F2D4E"/>
          </a:solidFill>
          <a:ln>
            <a:solidFill>
              <a:srgbClr val="1F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9016" y="1700784"/>
            <a:ext cx="306324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 i="0">
                <a:solidFill>
                  <a:srgbClr val="5B697E"/>
                </a:solidFill>
                <a:latin typeface="Aptos Mono"/>
              </a:rPr>
              <a:t>CANCELLATION ORDER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9016" y="1938528"/>
            <a:ext cx="30632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50" b="1" i="0">
                <a:solidFill>
                  <a:srgbClr val="1F2D4E"/>
                </a:solidFill>
                <a:latin typeface="Aptos Mono"/>
              </a:rPr>
              <a:t>16.08%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2276856"/>
            <a:ext cx="31089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0" i="0">
                <a:solidFill>
                  <a:srgbClr val="5B697E"/>
                </a:solidFill>
                <a:latin typeface="Aptos"/>
              </a:rPr>
              <a:t>Share of all orders that ended in cancellation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816352"/>
            <a:ext cx="7406640" cy="3218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" y="299008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40" b="1" i="0">
                <a:solidFill>
                  <a:srgbClr val="5B697E"/>
                </a:solidFill>
                <a:latin typeface="Aptos Mono"/>
              </a:rPr>
              <a:t>MONTHLY CANCELLATION REVENUE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200400"/>
            <a:ext cx="3840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0" b="0" i="0">
                <a:solidFill>
                  <a:srgbClr val="5B697E"/>
                </a:solidFill>
                <a:latin typeface="Aptos"/>
              </a:rPr>
              <a:t>Loss increases sharply in Dec (£0.21M peak)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70432" y="5038344"/>
            <a:ext cx="6537960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2" y="4965192"/>
            <a:ext cx="3657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10" b="0" i="0">
                <a:solidFill>
                  <a:srgbClr val="5B697E"/>
                </a:solidFill>
                <a:latin typeface="Aptos Mono"/>
              </a:rPr>
              <a:t>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70432" y="4714147"/>
            <a:ext cx="6537960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4640995"/>
            <a:ext cx="3657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10" b="0" i="0">
                <a:solidFill>
                  <a:srgbClr val="5B697E"/>
                </a:solidFill>
                <a:latin typeface="Aptos Mono"/>
              </a:rPr>
              <a:t>£0.05M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70432" y="4389951"/>
            <a:ext cx="6537960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3232" y="4316799"/>
            <a:ext cx="3657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10" b="0" i="0">
                <a:solidFill>
                  <a:srgbClr val="5B697E"/>
                </a:solidFill>
                <a:latin typeface="Aptos Mono"/>
              </a:rPr>
              <a:t>£0.10M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70432" y="4065754"/>
            <a:ext cx="6537960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2" y="3992602"/>
            <a:ext cx="3657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10" b="0" i="0">
                <a:solidFill>
                  <a:srgbClr val="5B697E"/>
                </a:solidFill>
                <a:latin typeface="Aptos Mono"/>
              </a:rPr>
              <a:t>£0.15M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70432" y="3741558"/>
            <a:ext cx="6537960" cy="0"/>
          </a:xfrm>
          <a:prstGeom prst="line">
            <a:avLst/>
          </a:prstGeom>
          <a:ln w="8890">
            <a:solidFill>
              <a:srgbClr val="E1E5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3232" y="3668406"/>
            <a:ext cx="3657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10" b="0" i="0">
                <a:solidFill>
                  <a:srgbClr val="5B697E"/>
                </a:solidFill>
                <a:latin typeface="Aptos Mono"/>
              </a:rPr>
              <a:t>£0.20M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70432" y="5038344"/>
            <a:ext cx="6537960" cy="0"/>
          </a:xfrm>
          <a:prstGeom prst="line">
            <a:avLst/>
          </a:prstGeom>
          <a:ln w="11430">
            <a:solidFill>
              <a:srgbClr val="1F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170432" y="4921633"/>
            <a:ext cx="594360" cy="116710"/>
          </a:xfrm>
          <a:prstGeom prst="rect">
            <a:avLst/>
          </a:prstGeom>
          <a:solidFill>
            <a:srgbClr val="F8E7EA"/>
          </a:solidFill>
          <a:ln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764792" y="4869761"/>
            <a:ext cx="594359" cy="168582"/>
          </a:xfrm>
          <a:prstGeom prst="rect">
            <a:avLst/>
          </a:prstGeom>
          <a:solidFill>
            <a:srgbClr val="F8E7EA"/>
          </a:solidFill>
          <a:ln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359152" y="4869761"/>
            <a:ext cx="594360" cy="168582"/>
          </a:xfrm>
          <a:prstGeom prst="rect">
            <a:avLst/>
          </a:prstGeom>
          <a:solidFill>
            <a:srgbClr val="F8E7EA"/>
          </a:solidFill>
          <a:ln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953512" y="4798438"/>
            <a:ext cx="594359" cy="239905"/>
          </a:xfrm>
          <a:prstGeom prst="rect">
            <a:avLst/>
          </a:prstGeom>
          <a:solidFill>
            <a:srgbClr val="F8E7EA"/>
          </a:solidFill>
          <a:ln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547872" y="4798438"/>
            <a:ext cx="594360" cy="239905"/>
          </a:xfrm>
          <a:prstGeom prst="rect">
            <a:avLst/>
          </a:prstGeom>
          <a:solidFill>
            <a:srgbClr val="F8E7EA"/>
          </a:solidFill>
          <a:ln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42232" y="4824374"/>
            <a:ext cx="594360" cy="213969"/>
          </a:xfrm>
          <a:prstGeom prst="rect">
            <a:avLst/>
          </a:prstGeom>
          <a:solidFill>
            <a:srgbClr val="F8E7EA"/>
          </a:solidFill>
          <a:ln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36592" y="4811406"/>
            <a:ext cx="594360" cy="226937"/>
          </a:xfrm>
          <a:prstGeom prst="rect">
            <a:avLst/>
          </a:prstGeom>
          <a:solidFill>
            <a:srgbClr val="F8E7EA"/>
          </a:solidFill>
          <a:ln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330952" y="4532597"/>
            <a:ext cx="594359" cy="505746"/>
          </a:xfrm>
          <a:prstGeom prst="rect">
            <a:avLst/>
          </a:prstGeom>
          <a:solidFill>
            <a:srgbClr val="F8E7EA"/>
          </a:solidFill>
          <a:ln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25312" y="4474242"/>
            <a:ext cx="594360" cy="564101"/>
          </a:xfrm>
          <a:prstGeom prst="rect">
            <a:avLst/>
          </a:prstGeom>
          <a:solidFill>
            <a:srgbClr val="F8E7EA"/>
          </a:solidFill>
          <a:ln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19672" y="4376983"/>
            <a:ext cx="594359" cy="661360"/>
          </a:xfrm>
          <a:prstGeom prst="rect">
            <a:avLst/>
          </a:prstGeom>
          <a:solidFill>
            <a:srgbClr val="F8E7EA"/>
          </a:solidFill>
          <a:ln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114032" y="3676719"/>
            <a:ext cx="594359" cy="1361624"/>
          </a:xfrm>
          <a:prstGeom prst="rect">
            <a:avLst/>
          </a:prstGeom>
          <a:solidFill>
            <a:srgbClr val="F8E7EA"/>
          </a:solidFill>
          <a:ln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>
            <a:off x="1170432" y="4921633"/>
            <a:ext cx="594360" cy="38903"/>
          </a:xfrm>
          <a:prstGeom prst="line">
            <a:avLst/>
          </a:prstGeom>
          <a:ln w="22860">
            <a:solidFill>
              <a:srgbClr val="D6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764792" y="4869761"/>
            <a:ext cx="594360" cy="90775"/>
          </a:xfrm>
          <a:prstGeom prst="line">
            <a:avLst/>
          </a:prstGeom>
          <a:ln w="22860">
            <a:solidFill>
              <a:srgbClr val="D6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359152" y="4869761"/>
            <a:ext cx="594360" cy="25936"/>
          </a:xfrm>
          <a:prstGeom prst="line">
            <a:avLst/>
          </a:prstGeom>
          <a:ln w="22860">
            <a:solidFill>
              <a:srgbClr val="D6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953512" y="4798438"/>
            <a:ext cx="594360" cy="97259"/>
          </a:xfrm>
          <a:prstGeom prst="line">
            <a:avLst/>
          </a:prstGeom>
          <a:ln w="22860">
            <a:solidFill>
              <a:srgbClr val="D6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547872" y="4798438"/>
            <a:ext cx="594360" cy="25936"/>
          </a:xfrm>
          <a:prstGeom prst="line">
            <a:avLst/>
          </a:prstGeom>
          <a:ln w="22860">
            <a:solidFill>
              <a:srgbClr val="D6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42232" y="4824374"/>
            <a:ext cx="594360" cy="12968"/>
          </a:xfrm>
          <a:prstGeom prst="line">
            <a:avLst/>
          </a:prstGeom>
          <a:ln w="22860">
            <a:solidFill>
              <a:srgbClr val="D6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736592" y="4811406"/>
            <a:ext cx="594360" cy="25936"/>
          </a:xfrm>
          <a:prstGeom prst="line">
            <a:avLst/>
          </a:prstGeom>
          <a:ln w="22860">
            <a:solidFill>
              <a:srgbClr val="D6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30952" y="4532597"/>
            <a:ext cx="594360" cy="278809"/>
          </a:xfrm>
          <a:prstGeom prst="line">
            <a:avLst/>
          </a:prstGeom>
          <a:ln w="22860">
            <a:solidFill>
              <a:srgbClr val="D6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925312" y="4474242"/>
            <a:ext cx="594360" cy="58355"/>
          </a:xfrm>
          <a:prstGeom prst="line">
            <a:avLst/>
          </a:prstGeom>
          <a:ln w="22860">
            <a:solidFill>
              <a:srgbClr val="D6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519672" y="4376983"/>
            <a:ext cx="594360" cy="97259"/>
          </a:xfrm>
          <a:prstGeom prst="line">
            <a:avLst/>
          </a:prstGeom>
          <a:ln w="22860">
            <a:solidFill>
              <a:srgbClr val="D6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114032" y="3676719"/>
            <a:ext cx="594360" cy="700264"/>
          </a:xfrm>
          <a:prstGeom prst="line">
            <a:avLst/>
          </a:prstGeom>
          <a:ln w="22860">
            <a:solidFill>
              <a:srgbClr val="D6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149858" y="4901059"/>
            <a:ext cx="41148" cy="41148"/>
          </a:xfrm>
          <a:prstGeom prst="ellipse">
            <a:avLst/>
          </a:prstGeom>
          <a:solidFill>
            <a:srgbClr val="BE3A48"/>
          </a:solidFill>
          <a:ln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05840" y="5166359"/>
            <a:ext cx="32918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0" b="0" i="0">
                <a:solidFill>
                  <a:srgbClr val="5B697E"/>
                </a:solidFill>
                <a:latin typeface="Aptos Mono"/>
              </a:rPr>
              <a:t>Jan</a:t>
            </a:r>
          </a:p>
        </p:txBody>
      </p:sp>
      <p:sp>
        <p:nvSpPr>
          <p:cNvPr id="60" name="Oval 59"/>
          <p:cNvSpPr/>
          <p:nvPr/>
        </p:nvSpPr>
        <p:spPr>
          <a:xfrm>
            <a:off x="1744218" y="4939962"/>
            <a:ext cx="41148" cy="41148"/>
          </a:xfrm>
          <a:prstGeom prst="ellipse">
            <a:avLst/>
          </a:prstGeom>
          <a:solidFill>
            <a:srgbClr val="BE3A48"/>
          </a:solidFill>
          <a:ln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600200" y="5166359"/>
            <a:ext cx="32918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0" b="0" i="0">
                <a:solidFill>
                  <a:srgbClr val="5B697E"/>
                </a:solidFill>
                <a:latin typeface="Aptos Mono"/>
              </a:rPr>
              <a:t>Feb</a:t>
            </a:r>
          </a:p>
        </p:txBody>
      </p:sp>
      <p:sp>
        <p:nvSpPr>
          <p:cNvPr id="62" name="Oval 61"/>
          <p:cNvSpPr/>
          <p:nvPr/>
        </p:nvSpPr>
        <p:spPr>
          <a:xfrm>
            <a:off x="2338578" y="4849187"/>
            <a:ext cx="41148" cy="41148"/>
          </a:xfrm>
          <a:prstGeom prst="ellipse">
            <a:avLst/>
          </a:prstGeom>
          <a:solidFill>
            <a:srgbClr val="BE3A48"/>
          </a:solidFill>
          <a:ln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194560" y="5166359"/>
            <a:ext cx="32918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0" b="0" i="0">
                <a:solidFill>
                  <a:srgbClr val="5B697E"/>
                </a:solidFill>
                <a:latin typeface="Aptos Mono"/>
              </a:rPr>
              <a:t>Mar</a:t>
            </a:r>
          </a:p>
        </p:txBody>
      </p:sp>
      <p:sp>
        <p:nvSpPr>
          <p:cNvPr id="64" name="Oval 63"/>
          <p:cNvSpPr/>
          <p:nvPr/>
        </p:nvSpPr>
        <p:spPr>
          <a:xfrm>
            <a:off x="2932938" y="4875123"/>
            <a:ext cx="41148" cy="41148"/>
          </a:xfrm>
          <a:prstGeom prst="ellipse">
            <a:avLst/>
          </a:prstGeom>
          <a:solidFill>
            <a:srgbClr val="BE3A48"/>
          </a:solidFill>
          <a:ln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788920" y="5166359"/>
            <a:ext cx="32918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0" b="0" i="0">
                <a:solidFill>
                  <a:srgbClr val="5B697E"/>
                </a:solidFill>
                <a:latin typeface="Aptos Mono"/>
              </a:rPr>
              <a:t>Apr</a:t>
            </a:r>
          </a:p>
        </p:txBody>
      </p:sp>
      <p:sp>
        <p:nvSpPr>
          <p:cNvPr id="66" name="Oval 65"/>
          <p:cNvSpPr/>
          <p:nvPr/>
        </p:nvSpPr>
        <p:spPr>
          <a:xfrm>
            <a:off x="3527298" y="4777864"/>
            <a:ext cx="41148" cy="41148"/>
          </a:xfrm>
          <a:prstGeom prst="ellipse">
            <a:avLst/>
          </a:prstGeom>
          <a:solidFill>
            <a:srgbClr val="BE3A48"/>
          </a:solidFill>
          <a:ln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383279" y="5166359"/>
            <a:ext cx="32918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0" b="0" i="0">
                <a:solidFill>
                  <a:srgbClr val="5B697E"/>
                </a:solidFill>
                <a:latin typeface="Aptos Mono"/>
              </a:rPr>
              <a:t>May</a:t>
            </a:r>
          </a:p>
        </p:txBody>
      </p:sp>
      <p:sp>
        <p:nvSpPr>
          <p:cNvPr id="68" name="Oval 67"/>
          <p:cNvSpPr/>
          <p:nvPr/>
        </p:nvSpPr>
        <p:spPr>
          <a:xfrm>
            <a:off x="4121658" y="4803800"/>
            <a:ext cx="41148" cy="41148"/>
          </a:xfrm>
          <a:prstGeom prst="ellipse">
            <a:avLst/>
          </a:prstGeom>
          <a:solidFill>
            <a:srgbClr val="BE3A48"/>
          </a:solidFill>
          <a:ln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977640" y="5166359"/>
            <a:ext cx="32918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0" b="0" i="0">
                <a:solidFill>
                  <a:srgbClr val="5B697E"/>
                </a:solidFill>
                <a:latin typeface="Aptos Mono"/>
              </a:rPr>
              <a:t>Jun</a:t>
            </a:r>
          </a:p>
        </p:txBody>
      </p:sp>
      <p:sp>
        <p:nvSpPr>
          <p:cNvPr id="70" name="Oval 69"/>
          <p:cNvSpPr/>
          <p:nvPr/>
        </p:nvSpPr>
        <p:spPr>
          <a:xfrm>
            <a:off x="4716018" y="4816768"/>
            <a:ext cx="41148" cy="41148"/>
          </a:xfrm>
          <a:prstGeom prst="ellipse">
            <a:avLst/>
          </a:prstGeom>
          <a:solidFill>
            <a:srgbClr val="BE3A48"/>
          </a:solidFill>
          <a:ln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572000" y="5166359"/>
            <a:ext cx="32918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0" b="0" i="0">
                <a:solidFill>
                  <a:srgbClr val="5B697E"/>
                </a:solidFill>
                <a:latin typeface="Aptos Mono"/>
              </a:rPr>
              <a:t>Jul</a:t>
            </a:r>
          </a:p>
        </p:txBody>
      </p:sp>
      <p:sp>
        <p:nvSpPr>
          <p:cNvPr id="72" name="Oval 71"/>
          <p:cNvSpPr/>
          <p:nvPr/>
        </p:nvSpPr>
        <p:spPr>
          <a:xfrm>
            <a:off x="5310378" y="4790832"/>
            <a:ext cx="41148" cy="41148"/>
          </a:xfrm>
          <a:prstGeom prst="ellipse">
            <a:avLst/>
          </a:prstGeom>
          <a:solidFill>
            <a:srgbClr val="BE3A48"/>
          </a:solidFill>
          <a:ln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166360" y="5166359"/>
            <a:ext cx="32918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0" b="0" i="0">
                <a:solidFill>
                  <a:srgbClr val="5B697E"/>
                </a:solidFill>
                <a:latin typeface="Aptos Mono"/>
              </a:rPr>
              <a:t>Aug</a:t>
            </a:r>
          </a:p>
        </p:txBody>
      </p:sp>
      <p:sp>
        <p:nvSpPr>
          <p:cNvPr id="74" name="Oval 73"/>
          <p:cNvSpPr/>
          <p:nvPr/>
        </p:nvSpPr>
        <p:spPr>
          <a:xfrm>
            <a:off x="5904738" y="4512023"/>
            <a:ext cx="41148" cy="41148"/>
          </a:xfrm>
          <a:prstGeom prst="ellipse">
            <a:avLst/>
          </a:prstGeom>
          <a:solidFill>
            <a:srgbClr val="BE3A48"/>
          </a:solidFill>
          <a:ln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760720" y="5166359"/>
            <a:ext cx="32918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0" b="0" i="0">
                <a:solidFill>
                  <a:srgbClr val="5B697E"/>
                </a:solidFill>
                <a:latin typeface="Aptos Mono"/>
              </a:rPr>
              <a:t>Sep</a:t>
            </a:r>
          </a:p>
        </p:txBody>
      </p:sp>
      <p:sp>
        <p:nvSpPr>
          <p:cNvPr id="76" name="Oval 75"/>
          <p:cNvSpPr/>
          <p:nvPr/>
        </p:nvSpPr>
        <p:spPr>
          <a:xfrm>
            <a:off x="6499098" y="4453668"/>
            <a:ext cx="41148" cy="41148"/>
          </a:xfrm>
          <a:prstGeom prst="ellipse">
            <a:avLst/>
          </a:prstGeom>
          <a:solidFill>
            <a:srgbClr val="BE3A48"/>
          </a:solidFill>
          <a:ln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355080" y="5166359"/>
            <a:ext cx="32918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0" b="0" i="0">
                <a:solidFill>
                  <a:srgbClr val="5B697E"/>
                </a:solidFill>
                <a:latin typeface="Aptos Mono"/>
              </a:rPr>
              <a:t>Oct</a:t>
            </a:r>
          </a:p>
        </p:txBody>
      </p:sp>
      <p:sp>
        <p:nvSpPr>
          <p:cNvPr id="78" name="Oval 77"/>
          <p:cNvSpPr/>
          <p:nvPr/>
        </p:nvSpPr>
        <p:spPr>
          <a:xfrm>
            <a:off x="7093458" y="4356409"/>
            <a:ext cx="41148" cy="41148"/>
          </a:xfrm>
          <a:prstGeom prst="ellipse">
            <a:avLst/>
          </a:prstGeom>
          <a:solidFill>
            <a:srgbClr val="BE3A48"/>
          </a:solidFill>
          <a:ln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949440" y="5166359"/>
            <a:ext cx="32918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0" b="0" i="0">
                <a:solidFill>
                  <a:srgbClr val="5B697E"/>
                </a:solidFill>
                <a:latin typeface="Aptos Mono"/>
              </a:rPr>
              <a:t>Nov</a:t>
            </a:r>
          </a:p>
        </p:txBody>
      </p:sp>
      <p:sp>
        <p:nvSpPr>
          <p:cNvPr id="80" name="Oval 79"/>
          <p:cNvSpPr/>
          <p:nvPr/>
        </p:nvSpPr>
        <p:spPr>
          <a:xfrm>
            <a:off x="7658100" y="3626427"/>
            <a:ext cx="100584" cy="100584"/>
          </a:xfrm>
          <a:prstGeom prst="ellipse">
            <a:avLst/>
          </a:prstGeom>
          <a:solidFill>
            <a:srgbClr val="D63B36"/>
          </a:solidFill>
          <a:ln>
            <a:solidFill>
              <a:srgbClr val="EF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543800" y="5166359"/>
            <a:ext cx="32918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0" b="1" i="0">
                <a:solidFill>
                  <a:srgbClr val="EF7718"/>
                </a:solidFill>
                <a:latin typeface="Aptos Mono"/>
              </a:rPr>
              <a:t>Dec*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29400" y="3310773"/>
            <a:ext cx="1161288" cy="237744"/>
          </a:xfrm>
          <a:prstGeom prst="rect">
            <a:avLst/>
          </a:prstGeom>
          <a:solidFill>
            <a:srgbClr val="FDEFE1"/>
          </a:solidFill>
          <a:ln>
            <a:solidFill>
              <a:srgbClr val="FD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624355" y="3395947"/>
            <a:ext cx="1069848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30" b="1" i="0" dirty="0">
                <a:solidFill>
                  <a:srgbClr val="EF7718"/>
                </a:solidFill>
                <a:latin typeface="Aptos Mono"/>
              </a:rPr>
              <a:t>Dec: £0.21M peak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61288" y="5522976"/>
            <a:ext cx="5514330" cy="1277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0" b="0" i="0" dirty="0">
                <a:solidFill>
                  <a:srgbClr val="D63B36"/>
                </a:solidFill>
                <a:latin typeface="Aptos Mono"/>
              </a:rPr>
              <a:t>* December 2011 is a partial reporting period; the loss shown is the in-period amount.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28431" y="2816352"/>
            <a:ext cx="3639312" cy="3218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193024" y="2990088"/>
            <a:ext cx="2560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40" b="1" i="0">
                <a:solidFill>
                  <a:srgbClr val="5B697E"/>
                </a:solidFill>
                <a:latin typeface="Aptos Mono"/>
              </a:rPr>
              <a:t>GROSS → NET BRIDGE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47888" y="3300984"/>
            <a:ext cx="28346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0" b="0" i="0">
                <a:solidFill>
                  <a:srgbClr val="1F2E4D"/>
                </a:solidFill>
                <a:latin typeface="Aptos"/>
              </a:rPr>
              <a:t>The path from £10.64M gross to £9.75M net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58784" y="3675887"/>
            <a:ext cx="1143000" cy="749808"/>
          </a:xfrm>
          <a:prstGeom prst="rect">
            <a:avLst/>
          </a:prstGeom>
          <a:solidFill>
            <a:srgbClr val="073256"/>
          </a:solidFill>
          <a:ln>
            <a:solidFill>
              <a:srgbClr val="105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613648" y="3840480"/>
            <a:ext cx="1033271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20" b="1" i="0">
                <a:solidFill>
                  <a:srgbClr val="FFFFFF"/>
                </a:solidFill>
                <a:latin typeface="Aptos Mono"/>
              </a:rPr>
              <a:t>£10.64M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41080" y="4105656"/>
            <a:ext cx="978408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ptos Mono"/>
              </a:rPr>
              <a:t>GROSS REVENUE
100%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03536" y="3675887"/>
            <a:ext cx="1143000" cy="749808"/>
          </a:xfrm>
          <a:prstGeom prst="rect">
            <a:avLst/>
          </a:prstGeom>
          <a:solidFill>
            <a:srgbClr val="D63B36"/>
          </a:solidFill>
          <a:ln w="11430">
            <a:solidFill>
              <a:srgbClr val="BE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187910" y="3840480"/>
            <a:ext cx="774250" cy="2200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30" b="1" i="0" dirty="0">
                <a:solidFill>
                  <a:srgbClr val="FFFFFF"/>
                </a:solidFill>
                <a:latin typeface="Aptos Mono"/>
              </a:rPr>
              <a:t>−£0.89M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72870" y="4105656"/>
            <a:ext cx="60433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0" i="0" dirty="0">
                <a:solidFill>
                  <a:srgbClr val="FFFFFF"/>
                </a:solidFill>
                <a:latin typeface="Aptos Mono"/>
              </a:rPr>
              <a:t>CANCELLATIONS
8.4% impact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701784" y="4050791"/>
            <a:ext cx="301752" cy="0"/>
          </a:xfrm>
          <a:prstGeom prst="line">
            <a:avLst/>
          </a:prstGeom>
          <a:ln w="12700">
            <a:solidFill>
              <a:srgbClr val="1F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146536" y="4050791"/>
            <a:ext cx="265176" cy="0"/>
          </a:xfrm>
          <a:prstGeom prst="line">
            <a:avLst/>
          </a:prstGeom>
          <a:ln w="12700">
            <a:solidFill>
              <a:srgbClr val="1F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9308592" y="4572000"/>
            <a:ext cx="1143000" cy="749808"/>
          </a:xfrm>
          <a:prstGeom prst="rect">
            <a:avLst/>
          </a:prstGeom>
          <a:solidFill>
            <a:srgbClr val="48A538"/>
          </a:solidFill>
          <a:ln>
            <a:solidFill>
              <a:srgbClr val="1F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363456" y="4736592"/>
            <a:ext cx="1033271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20" b="1" i="0">
                <a:solidFill>
                  <a:srgbClr val="FFFFFF"/>
                </a:solidFill>
                <a:latin typeface="Aptos Mono"/>
              </a:rPr>
              <a:t>£9.75M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63456" y="5010912"/>
            <a:ext cx="1033271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ptos Mono"/>
              </a:rPr>
              <a:t>NET REVENUE
91.6% retained</a:t>
            </a:r>
          </a:p>
        </p:txBody>
      </p:sp>
      <p:cxnSp>
        <p:nvCxnSpPr>
          <p:cNvPr id="99" name="Connector 98"/>
          <p:cNvCxnSpPr/>
          <p:nvPr/>
        </p:nvCxnSpPr>
        <p:spPr>
          <a:xfrm flipH="1">
            <a:off x="10040112" y="4425696"/>
            <a:ext cx="539496" cy="146304"/>
          </a:xfrm>
          <a:prstGeom prst="line">
            <a:avLst/>
          </a:prstGeom>
          <a:ln w="11430">
            <a:solidFill>
              <a:srgbClr val="1F2D4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502920" y="6172200"/>
            <a:ext cx="11164824" cy="347472"/>
          </a:xfrm>
          <a:prstGeom prst="rect">
            <a:avLst/>
          </a:prstGeom>
          <a:solidFill>
            <a:srgbClr val="F7F8FA"/>
          </a:solidFill>
          <a:ln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502919" y="6172200"/>
            <a:ext cx="45719" cy="347472"/>
          </a:xfrm>
          <a:prstGeom prst="rect">
            <a:avLst/>
          </a:prstGeom>
          <a:solidFill>
            <a:srgbClr val="EF7718"/>
          </a:solidFill>
          <a:ln>
            <a:solidFill>
              <a:srgbClr val="EF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85800" y="6281928"/>
            <a:ext cx="61264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 i="0" dirty="0">
                <a:solidFill>
                  <a:srgbClr val="EF7718"/>
                </a:solidFill>
                <a:latin typeface="Aptos Mono"/>
              </a:rPr>
              <a:t>TAKEAWAY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20970" y="6271121"/>
            <a:ext cx="100126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5" b="0" i="0" dirty="0">
                <a:solidFill>
                  <a:srgbClr val="1F2E4D"/>
                </a:solidFill>
                <a:latin typeface="Aptos"/>
              </a:rPr>
              <a:t>Cancellation is a material revenue-leakage issue and becomes more important during the highest-demand period — month-end operations is where most of the £0.89M is escaping.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4538" y="6681216"/>
            <a:ext cx="5049459" cy="1277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30" b="0" i="0" dirty="0">
                <a:solidFill>
                  <a:srgbClr val="5B697E"/>
                </a:solidFill>
                <a:latin typeface="Aptos Mono"/>
              </a:rPr>
              <a:t> </a:t>
            </a:r>
            <a:r>
              <a:rPr lang="en-IN" sz="800" b="1" dirty="0">
                <a:solidFill>
                  <a:srgbClr val="94A3B8"/>
                </a:solidFill>
                <a:latin typeface="Inter"/>
              </a:rPr>
              <a:t>08/ 12  </a:t>
            </a:r>
            <a:r>
              <a:rPr sz="830" b="0" i="0" dirty="0">
                <a:solidFill>
                  <a:srgbClr val="5B697E"/>
                </a:solidFill>
                <a:latin typeface="Aptos Mono"/>
              </a:rPr>
              <a:t>Dec 2011 partial period   ·   Dec peak magnitude reflects in-period only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009376" y="6793992"/>
            <a:ext cx="658368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20" b="0" i="0">
                <a:solidFill>
                  <a:srgbClr val="5B697E"/>
                </a:solidFill>
                <a:latin typeface="Aptos Mono"/>
              </a:rPr>
              <a:t>07   /   10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CCB3139-E85D-FFC4-9292-F4BD9963C6CE}"/>
              </a:ext>
            </a:extLst>
          </p:cNvPr>
          <p:cNvSpPr/>
          <p:nvPr/>
        </p:nvSpPr>
        <p:spPr>
          <a:xfrm>
            <a:off x="471714" y="895569"/>
            <a:ext cx="576000" cy="36000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36C2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" y="-17552"/>
            <a:ext cx="12191999" cy="68755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32004"/>
          </a:xfrm>
          <a:prstGeom prst="rect">
            <a:avLst/>
          </a:prstGeom>
          <a:solidFill>
            <a:srgbClr val="1F2D4E"/>
          </a:solidFill>
          <a:ln>
            <a:solidFill>
              <a:srgbClr val="1F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56616"/>
            <a:ext cx="3130665" cy="126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819" b="1" spc="300" dirty="0">
                <a:solidFill>
                  <a:srgbClr val="EF7418"/>
                </a:solidFill>
                <a:latin typeface="Aptos Mono"/>
              </a:rPr>
              <a:t>09.</a:t>
            </a:r>
            <a:r>
              <a:rPr sz="819" b="1" spc="300" dirty="0">
                <a:solidFill>
                  <a:srgbClr val="EF7418"/>
                </a:solidFill>
                <a:latin typeface="Aptos Mono"/>
              </a:rPr>
              <a:t>CUSTOMER VALUE &amp;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3509" y="558875"/>
            <a:ext cx="11090227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263552"/>
                </a:solidFill>
                <a:latin typeface="Georgia"/>
              </a:rPr>
              <a:t>Registered customers are 5.6× more valuable; guests come once,
then leave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" y="1361003"/>
            <a:ext cx="110185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 dirty="0">
                <a:solidFill>
                  <a:srgbClr val="263552"/>
                </a:solidFill>
                <a:latin typeface="Aptos"/>
              </a:rPr>
              <a:t>Registered customers generate £8.28M of revenue and average 4.3 completed orders. Guests buy fewer times but place far larger baskets when they do — opportunity to convert.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F488B6A-6D5F-8C3B-B368-F9C0B40F3FD3}"/>
              </a:ext>
            </a:extLst>
          </p:cNvPr>
          <p:cNvGrpSpPr/>
          <p:nvPr/>
        </p:nvGrpSpPr>
        <p:grpSpPr>
          <a:xfrm>
            <a:off x="502920" y="1609762"/>
            <a:ext cx="11100816" cy="1490472"/>
            <a:chOff x="502920" y="1609762"/>
            <a:chExt cx="11100816" cy="1490472"/>
          </a:xfrm>
        </p:grpSpPr>
        <p:sp>
          <p:nvSpPr>
            <p:cNvPr id="7" name="Rectangle 6"/>
            <p:cNvSpPr/>
            <p:nvPr/>
          </p:nvSpPr>
          <p:spPr>
            <a:xfrm>
              <a:off x="502920" y="1609762"/>
              <a:ext cx="3621024" cy="149047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1E4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502920" y="1609762"/>
              <a:ext cx="3621024" cy="32004"/>
            </a:xfrm>
            <a:prstGeom prst="rect">
              <a:avLst/>
            </a:prstGeom>
            <a:solidFill>
              <a:srgbClr val="073256"/>
            </a:solidFill>
            <a:ln>
              <a:solidFill>
                <a:srgbClr val="11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8368" y="1801786"/>
              <a:ext cx="1090042" cy="10772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700" b="1" dirty="0">
                  <a:solidFill>
                    <a:srgbClr val="073256"/>
                  </a:solidFill>
                  <a:latin typeface="Aptos Mono"/>
                </a:rPr>
                <a:t>REGISTERED CUSTOMERS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8368" y="2057818"/>
              <a:ext cx="1154162" cy="3847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500" b="1" dirty="0">
                  <a:solidFill>
                    <a:srgbClr val="073256"/>
                  </a:solidFill>
                  <a:latin typeface="Aptos Mono"/>
                </a:rPr>
                <a:t>£8.28M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8368" y="2542450"/>
              <a:ext cx="2250616" cy="12772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30" b="0" dirty="0">
                  <a:solidFill>
                    <a:srgbClr val="263552"/>
                  </a:solidFill>
                  <a:latin typeface="Aptos"/>
                </a:rPr>
                <a:t>84.9% of total revenue · 4.3 avg orders · £373 AOV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233672" y="1609762"/>
              <a:ext cx="3621024" cy="149047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1E4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233672" y="1609762"/>
              <a:ext cx="3621024" cy="32004"/>
            </a:xfrm>
            <a:prstGeom prst="rect">
              <a:avLst/>
            </a:prstGeom>
            <a:solidFill>
              <a:srgbClr val="EF7418"/>
            </a:solidFill>
            <a:ln>
              <a:solidFill>
                <a:srgbClr val="EF74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98264" y="1801786"/>
              <a:ext cx="2194560" cy="13716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700" b="1">
                  <a:solidFill>
                    <a:srgbClr val="EF7418"/>
                  </a:solidFill>
                  <a:latin typeface="Aptos Mono"/>
                </a:rPr>
                <a:t>GUEST CUSTOMERS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98264" y="2057818"/>
              <a:ext cx="2377440" cy="36576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500" b="1">
                  <a:solidFill>
                    <a:srgbClr val="EF7418"/>
                  </a:solidFill>
                  <a:latin typeface="Aptos Mono"/>
                </a:rPr>
                <a:t>£1.47M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98264" y="2542450"/>
              <a:ext cx="2112758" cy="12772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30" b="0" dirty="0">
                  <a:solidFill>
                    <a:srgbClr val="263552"/>
                  </a:solidFill>
                  <a:latin typeface="Aptos"/>
                </a:rPr>
                <a:t>15.1% of total revenue · 1 avg order · £881 AOV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982712" y="1609762"/>
              <a:ext cx="3621024" cy="1490472"/>
            </a:xfrm>
            <a:prstGeom prst="rect">
              <a:avLst/>
            </a:prstGeom>
            <a:solidFill>
              <a:srgbClr val="073256"/>
            </a:solidFill>
            <a:ln>
              <a:solidFill>
                <a:srgbClr val="1F2D4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147304" y="1801786"/>
              <a:ext cx="2286000" cy="13716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700" b="1">
                  <a:solidFill>
                    <a:srgbClr val="EF7418"/>
                  </a:solidFill>
                  <a:latin typeface="Aptos Mono"/>
                </a:rPr>
                <a:t>REGISTERED VS GUEST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202168" y="2055661"/>
              <a:ext cx="1828800" cy="47548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3100" b="0" dirty="0">
                  <a:solidFill>
                    <a:srgbClr val="FFFFFF"/>
                  </a:solidFill>
                  <a:latin typeface="Georgia"/>
                </a:rPr>
                <a:t>5.6×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47304" y="2652178"/>
              <a:ext cx="3108223" cy="12772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30" b="1" dirty="0">
                  <a:solidFill>
                    <a:srgbClr val="FFFFFF"/>
                  </a:solidFill>
                  <a:latin typeface="Aptos"/>
                </a:rPr>
                <a:t>more revenue than guest customers while using smaller baskets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502920" y="3246121"/>
            <a:ext cx="3621024" cy="2551176"/>
          </a:xfrm>
          <a:prstGeom prst="rect">
            <a:avLst/>
          </a:prstGeom>
          <a:solidFill>
            <a:srgbClr val="FFFFFF"/>
          </a:solidFill>
          <a:ln w="10160"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79392" y="3260254"/>
            <a:ext cx="3474720" cy="2537043"/>
          </a:xfrm>
          <a:prstGeom prst="rect">
            <a:avLst/>
          </a:prstGeom>
          <a:solidFill>
            <a:srgbClr val="FFFFFF"/>
          </a:solidFill>
          <a:ln w="10160"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82712" y="3246120"/>
            <a:ext cx="3550920" cy="2537043"/>
          </a:xfrm>
          <a:prstGeom prst="rect">
            <a:avLst/>
          </a:prstGeom>
          <a:solidFill>
            <a:srgbClr val="FFFFFF"/>
          </a:solidFill>
          <a:ln w="10160"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3438144"/>
            <a:ext cx="75822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5B677C"/>
                </a:solidFill>
                <a:latin typeface="Aptos Mono"/>
              </a:rPr>
              <a:t>REVENUE MIX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7448" y="4137660"/>
            <a:ext cx="43891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19" b="1" dirty="0">
                <a:solidFill>
                  <a:srgbClr val="263552"/>
                </a:solidFill>
                <a:latin typeface="Aptos Mono"/>
              </a:rPr>
              <a:t>84.9%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83855" y="4359821"/>
            <a:ext cx="50292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00" b="0" dirty="0">
                <a:solidFill>
                  <a:srgbClr val="5B677C"/>
                </a:solidFill>
                <a:latin typeface="Aptos Mono"/>
              </a:rPr>
              <a:t>Registered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5883" y="4978908"/>
            <a:ext cx="64008" cy="64008"/>
          </a:xfrm>
          <a:prstGeom prst="rect">
            <a:avLst/>
          </a:prstGeom>
          <a:solidFill>
            <a:srgbClr val="115BB8"/>
          </a:solidFill>
          <a:ln>
            <a:solidFill>
              <a:srgbClr val="115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" y="4983480"/>
            <a:ext cx="966611" cy="1277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30" b="0" dirty="0">
                <a:solidFill>
                  <a:srgbClr val="263552"/>
                </a:solidFill>
                <a:latin typeface="Aptos"/>
              </a:rPr>
              <a:t>Registered — £8.28M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" y="5207508"/>
            <a:ext cx="64008" cy="64008"/>
          </a:xfrm>
          <a:prstGeom prst="rect">
            <a:avLst/>
          </a:prstGeom>
          <a:solidFill>
            <a:srgbClr val="EF7418"/>
          </a:solidFill>
          <a:ln>
            <a:solidFill>
              <a:srgbClr val="EF7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5202936"/>
            <a:ext cx="753411" cy="1277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30" b="0" dirty="0">
                <a:solidFill>
                  <a:srgbClr val="263552"/>
                </a:solidFill>
                <a:latin typeface="Aptos"/>
              </a:rPr>
              <a:t>Guest — £1.47M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9631" y="5474943"/>
            <a:ext cx="3169137" cy="1277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30" b="0" dirty="0">
                <a:solidFill>
                  <a:srgbClr val="5B677C"/>
                </a:solidFill>
                <a:latin typeface="Aptos"/>
              </a:rPr>
              <a:t>Registered revenue is 5.6× guest revenue despite the smaller baskets.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98264" y="3438144"/>
            <a:ext cx="1998945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5B677C"/>
                </a:solidFill>
                <a:latin typeface="Aptos Mono"/>
              </a:rPr>
              <a:t>BASKET SIZE — ITEMS PER ORDER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782312" y="4005072"/>
            <a:ext cx="2843784" cy="0"/>
          </a:xfrm>
          <a:prstGeom prst="line">
            <a:avLst/>
          </a:prstGeom>
          <a:ln w="825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782312" y="4352544"/>
            <a:ext cx="2843784" cy="0"/>
          </a:xfrm>
          <a:prstGeom prst="line">
            <a:avLst/>
          </a:prstGeom>
          <a:ln w="825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782312" y="4700016"/>
            <a:ext cx="2843784" cy="0"/>
          </a:xfrm>
          <a:prstGeom prst="line">
            <a:avLst/>
          </a:prstGeom>
          <a:ln w="825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782312" y="5047488"/>
            <a:ext cx="2843784" cy="0"/>
          </a:xfrm>
          <a:prstGeom prst="line">
            <a:avLst/>
          </a:prstGeom>
          <a:ln w="825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782312" y="5477256"/>
            <a:ext cx="2843784" cy="0"/>
          </a:xfrm>
          <a:prstGeom prst="line">
            <a:avLst/>
          </a:prstGeom>
          <a:ln w="11430">
            <a:solidFill>
              <a:srgbClr val="1F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44568" y="3913632"/>
            <a:ext cx="201168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5B677C"/>
                </a:solidFill>
                <a:latin typeface="Aptos Mono"/>
              </a:rPr>
              <a:t>120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261104"/>
            <a:ext cx="201168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5B677C"/>
                </a:solidFill>
                <a:latin typeface="Aptos Mono"/>
              </a:rPr>
              <a:t>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8576" y="5394960"/>
            <a:ext cx="164592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5B677C"/>
                </a:solidFill>
                <a:latin typeface="Aptos Mono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2784" y="4544568"/>
            <a:ext cx="137160" cy="932688"/>
          </a:xfrm>
          <a:prstGeom prst="rect">
            <a:avLst/>
          </a:prstGeom>
          <a:solidFill>
            <a:srgbClr val="EF7418"/>
          </a:solidFill>
          <a:ln>
            <a:solidFill>
              <a:srgbClr val="EF7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793992" y="5266944"/>
            <a:ext cx="137160" cy="210312"/>
          </a:xfrm>
          <a:prstGeom prst="rect">
            <a:avLst/>
          </a:prstGeom>
          <a:solidFill>
            <a:srgbClr val="073256"/>
          </a:solidFill>
          <a:ln>
            <a:solidFill>
              <a:srgbClr val="115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39612" y="4142233"/>
            <a:ext cx="56692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0" dirty="0">
                <a:solidFill>
                  <a:srgbClr val="263552"/>
                </a:solidFill>
                <a:latin typeface="Aptos"/>
              </a:rPr>
              <a:t>Guest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79592" y="4503892"/>
            <a:ext cx="243656" cy="1231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EF7418"/>
                </a:solidFill>
                <a:latin typeface="Aptos Mono"/>
              </a:rPr>
              <a:t>79.7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47104" y="5074920"/>
            <a:ext cx="74980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263552"/>
                </a:solidFill>
                <a:latin typeface="Aptos"/>
              </a:rPr>
              <a:t>Registered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67728" y="5239512"/>
            <a:ext cx="243656" cy="1231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115BB8"/>
                </a:solidFill>
                <a:latin typeface="Aptos Mono"/>
              </a:rPr>
              <a:t>18.1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17487" y="5578130"/>
            <a:ext cx="2500685" cy="1277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30" b="0" dirty="0">
                <a:solidFill>
                  <a:srgbClr val="5B677C"/>
                </a:solidFill>
                <a:latin typeface="Aptos Mono"/>
              </a:rPr>
              <a:t>Items per invoice, avg completed orders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47304" y="3438144"/>
            <a:ext cx="268823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5B677C"/>
                </a:solidFill>
                <a:latin typeface="Aptos Mono"/>
              </a:rPr>
              <a:t>AVERAGE ORDER VALUE — SPEND PER INVOICE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531352" y="4005072"/>
            <a:ext cx="2825496" cy="0"/>
          </a:xfrm>
          <a:prstGeom prst="line">
            <a:avLst/>
          </a:prstGeom>
          <a:ln w="825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531352" y="4352544"/>
            <a:ext cx="2825496" cy="0"/>
          </a:xfrm>
          <a:prstGeom prst="line">
            <a:avLst/>
          </a:prstGeom>
          <a:ln w="825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531352" y="4700016"/>
            <a:ext cx="2825496" cy="0"/>
          </a:xfrm>
          <a:prstGeom prst="line">
            <a:avLst/>
          </a:prstGeom>
          <a:ln w="825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531352" y="5047488"/>
            <a:ext cx="2825496" cy="0"/>
          </a:xfrm>
          <a:prstGeom prst="line">
            <a:avLst/>
          </a:prstGeom>
          <a:ln w="8255">
            <a:solidFill>
              <a:srgbClr val="E1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531352" y="5477256"/>
            <a:ext cx="2825496" cy="0"/>
          </a:xfrm>
          <a:prstGeom prst="line">
            <a:avLst/>
          </a:prstGeom>
          <a:ln w="11430">
            <a:solidFill>
              <a:srgbClr val="1F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229600" y="3913632"/>
            <a:ext cx="27432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5B677C"/>
                </a:solidFill>
                <a:latin typeface="Aptos Mono"/>
              </a:rPr>
              <a:t>£1,200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6175" y="4261104"/>
            <a:ext cx="237744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5B677C"/>
                </a:solidFill>
                <a:latin typeface="Aptos Mono"/>
              </a:rPr>
              <a:t>£600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5394960"/>
            <a:ext cx="1828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5B677C"/>
                </a:solidFill>
                <a:latin typeface="Aptos Mono"/>
              </a:rPr>
              <a:t>£0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30968" y="4416552"/>
            <a:ext cx="137160" cy="1060704"/>
          </a:xfrm>
          <a:prstGeom prst="rect">
            <a:avLst/>
          </a:prstGeom>
          <a:solidFill>
            <a:srgbClr val="EF7418"/>
          </a:solidFill>
          <a:ln>
            <a:solidFill>
              <a:srgbClr val="EF7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561320" y="5148072"/>
            <a:ext cx="137160" cy="329184"/>
          </a:xfrm>
          <a:prstGeom prst="rect">
            <a:avLst/>
          </a:prstGeom>
          <a:solidFill>
            <a:srgbClr val="073256"/>
          </a:solidFill>
          <a:ln>
            <a:solidFill>
              <a:srgbClr val="115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765792" y="4023360"/>
            <a:ext cx="56692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263552"/>
                </a:solidFill>
                <a:latin typeface="Aptos"/>
              </a:rPr>
              <a:t>Guest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7349" y="4448556"/>
            <a:ext cx="457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dirty="0">
                <a:solidFill>
                  <a:srgbClr val="EF7418"/>
                </a:solidFill>
                <a:latin typeface="Aptos Mono"/>
              </a:rPr>
              <a:t>£</a:t>
            </a:r>
            <a:r>
              <a:rPr sz="800" b="1" dirty="0">
                <a:solidFill>
                  <a:srgbClr val="EF7418"/>
                </a:solidFill>
                <a:latin typeface="Aptos Mono"/>
              </a:rPr>
              <a:t>881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32720" y="4800600"/>
            <a:ext cx="74980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0" dirty="0">
                <a:solidFill>
                  <a:srgbClr val="263552"/>
                </a:solidFill>
                <a:latin typeface="Aptos"/>
              </a:rPr>
              <a:t>Registered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80776" y="5111496"/>
            <a:ext cx="237244" cy="1231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1" dirty="0">
                <a:solidFill>
                  <a:srgbClr val="115BB8"/>
                </a:solidFill>
                <a:latin typeface="Aptos Mono"/>
              </a:rPr>
              <a:t>£</a:t>
            </a:r>
            <a:r>
              <a:rPr sz="800" b="1" dirty="0">
                <a:solidFill>
                  <a:srgbClr val="115BB8"/>
                </a:solidFill>
                <a:latin typeface="Aptos Mono"/>
              </a:rPr>
              <a:t>373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47304" y="5599203"/>
            <a:ext cx="2500685" cy="1277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30" b="0" dirty="0">
                <a:solidFill>
                  <a:srgbClr val="5B677C"/>
                </a:solidFill>
                <a:latin typeface="Aptos Mono"/>
              </a:rPr>
              <a:t>Spend per invoice, avg completed orders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5982935"/>
            <a:ext cx="11247120" cy="512064"/>
          </a:xfrm>
          <a:prstGeom prst="rect">
            <a:avLst/>
          </a:prstGeom>
          <a:solidFill>
            <a:srgbClr val="F7F8FA"/>
          </a:solidFill>
          <a:ln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13509" y="5997069"/>
            <a:ext cx="22860" cy="512064"/>
          </a:xfrm>
          <a:prstGeom prst="rect">
            <a:avLst/>
          </a:prstGeom>
          <a:solidFill>
            <a:srgbClr val="EF7418"/>
          </a:solidFill>
          <a:ln>
            <a:solidFill>
              <a:srgbClr val="EF7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85800" y="6224753"/>
            <a:ext cx="6400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00" b="1" dirty="0">
                <a:solidFill>
                  <a:srgbClr val="EF7418"/>
                </a:solidFill>
                <a:latin typeface="Aptos Mono"/>
              </a:rPr>
              <a:t>TAKEAWAY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35449" y="6175274"/>
            <a:ext cx="100126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9" b="0" dirty="0">
                <a:solidFill>
                  <a:srgbClr val="263552"/>
                </a:solidFill>
                <a:latin typeface="Aptos"/>
              </a:rPr>
              <a:t>Guests place larger individual orders, but registered customers are substantially more valuable through repeat purchasing. The conversion opportunity sits here.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6369" y="6667845"/>
            <a:ext cx="5831725" cy="1277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800" b="1" dirty="0">
                <a:solidFill>
                  <a:srgbClr val="94A3B8"/>
                </a:solidFill>
                <a:latin typeface="Inter"/>
              </a:rPr>
              <a:t>09/ 12  </a:t>
            </a:r>
            <a:r>
              <a:rPr sz="830" b="0" dirty="0">
                <a:solidFill>
                  <a:srgbClr val="5B677C"/>
                </a:solidFill>
                <a:latin typeface="Aptos Mono"/>
              </a:rPr>
              <a:t>Registered = customers with Customer</a:t>
            </a:r>
            <a:r>
              <a:rPr lang="en-IN" sz="830" b="0" dirty="0">
                <a:solidFill>
                  <a:srgbClr val="5B677C"/>
                </a:solidFill>
                <a:latin typeface="Aptos Mono"/>
              </a:rPr>
              <a:t> </a:t>
            </a:r>
            <a:r>
              <a:rPr sz="830" b="0" dirty="0">
                <a:solidFill>
                  <a:srgbClr val="5B677C"/>
                </a:solidFill>
                <a:latin typeface="Aptos Mono"/>
              </a:rPr>
              <a:t>ID   ·   Guest = transactions without Customer</a:t>
            </a:r>
            <a:r>
              <a:rPr lang="en-IN" sz="830" b="0" dirty="0">
                <a:solidFill>
                  <a:srgbClr val="5B677C"/>
                </a:solidFill>
                <a:latin typeface="Aptos Mono"/>
              </a:rPr>
              <a:t> </a:t>
            </a:r>
            <a:r>
              <a:rPr sz="830" b="0" dirty="0">
                <a:solidFill>
                  <a:srgbClr val="5B677C"/>
                </a:solidFill>
                <a:latin typeface="Aptos Mono"/>
              </a:rPr>
              <a:t>ID</a:t>
            </a:r>
          </a:p>
        </p:txBody>
      </p:sp>
      <p:graphicFrame>
        <p:nvGraphicFramePr>
          <p:cNvPr id="79" name="Chart 78">
            <a:extLst>
              <a:ext uri="{FF2B5EF4-FFF2-40B4-BE49-F238E27FC236}">
                <a16:creationId xmlns:a16="http://schemas.microsoft.com/office/drawing/2014/main" id="{008EB60C-6B81-A796-F89F-201C18C466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6047501"/>
              </p:ext>
            </p:extLst>
          </p:nvPr>
        </p:nvGraphicFramePr>
        <p:xfrm>
          <a:off x="1579552" y="3525062"/>
          <a:ext cx="2074705" cy="1627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1" name="Rectangle 80">
            <a:extLst>
              <a:ext uri="{FF2B5EF4-FFF2-40B4-BE49-F238E27FC236}">
                <a16:creationId xmlns:a16="http://schemas.microsoft.com/office/drawing/2014/main" id="{E7B7FE2B-8E4C-84B0-E339-0FA1DCED858A}"/>
              </a:ext>
            </a:extLst>
          </p:cNvPr>
          <p:cNvSpPr/>
          <p:nvPr/>
        </p:nvSpPr>
        <p:spPr>
          <a:xfrm>
            <a:off x="525780" y="915018"/>
            <a:ext cx="576000" cy="36000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36C2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1F2B49"/>
          </a:solidFill>
          <a:ln w="8890">
            <a:solidFill>
              <a:srgbClr val="1F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791696" cy="20313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IN" sz="720" spc="300" dirty="0">
                <a:solidFill>
                  <a:srgbClr val="F2741F"/>
                </a:solidFill>
                <a:latin typeface="Arial"/>
              </a:rPr>
              <a:t>10 </a:t>
            </a:r>
            <a:r>
              <a:rPr sz="720" b="0" spc="300" dirty="0">
                <a:solidFill>
                  <a:srgbClr val="F2741F"/>
                </a:solidFill>
                <a:latin typeface="Arial"/>
              </a:rPr>
              <a:t> C U S T O M E R   &amp;   M A R K E T   B E H A V I O U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621" y="486597"/>
            <a:ext cx="1115568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 dirty="0">
                <a:solidFill>
                  <a:srgbClr val="1F2B49"/>
                </a:solidFill>
                <a:latin typeface="Georgia"/>
              </a:rPr>
              <a:t>Germany engages hardest; the UK still wins on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341" y="1098263"/>
            <a:ext cx="1106424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 dirty="0">
                <a:solidFill>
                  <a:srgbClr val="1F2B49"/>
                </a:solidFill>
                <a:latin typeface="Arial"/>
              </a:rPr>
              <a:t>Repeat rate and purchase frequency are higher in Germany and France than in the UK, even though the UK still moves more units. A small mix change could lift lifetime value meaningfully.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0048" y="2286000"/>
            <a:ext cx="2907791" cy="0"/>
          </a:xfrm>
          <a:prstGeom prst="rect">
            <a:avLst/>
          </a:prstGeom>
          <a:solidFill>
            <a:srgbClr val="E5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70048" y="2619756"/>
            <a:ext cx="2907791" cy="0"/>
          </a:xfrm>
          <a:prstGeom prst="rect">
            <a:avLst/>
          </a:prstGeom>
          <a:solidFill>
            <a:srgbClr val="E5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70048" y="2953512"/>
            <a:ext cx="2907791" cy="0"/>
          </a:xfrm>
          <a:prstGeom prst="rect">
            <a:avLst/>
          </a:prstGeom>
          <a:solidFill>
            <a:srgbClr val="E5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70048" y="3287268"/>
            <a:ext cx="2907791" cy="0"/>
          </a:xfrm>
          <a:prstGeom prst="rect">
            <a:avLst/>
          </a:prstGeom>
          <a:solidFill>
            <a:srgbClr val="E5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670048" y="3621024"/>
            <a:ext cx="2907791" cy="0"/>
          </a:xfrm>
          <a:prstGeom prst="rect">
            <a:avLst/>
          </a:prstGeom>
          <a:solidFill>
            <a:srgbClr val="E5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670048" y="3954780"/>
            <a:ext cx="2907791" cy="0"/>
          </a:xfrm>
          <a:prstGeom prst="rect">
            <a:avLst/>
          </a:prstGeom>
          <a:solidFill>
            <a:srgbClr val="E5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670048" y="4096512"/>
            <a:ext cx="2907791" cy="0"/>
          </a:xfrm>
          <a:prstGeom prst="rect">
            <a:avLst/>
          </a:prstGeom>
          <a:solidFill>
            <a:srgbClr val="1F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793992" y="2221991"/>
            <a:ext cx="3035808" cy="0"/>
          </a:xfrm>
          <a:prstGeom prst="rect">
            <a:avLst/>
          </a:prstGeom>
          <a:solidFill>
            <a:srgbClr val="E5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793992" y="2478023"/>
            <a:ext cx="3035808" cy="0"/>
          </a:xfrm>
          <a:prstGeom prst="rect">
            <a:avLst/>
          </a:prstGeom>
          <a:solidFill>
            <a:srgbClr val="E5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793992" y="2734056"/>
            <a:ext cx="3035808" cy="0"/>
          </a:xfrm>
          <a:prstGeom prst="rect">
            <a:avLst/>
          </a:prstGeom>
          <a:solidFill>
            <a:srgbClr val="E5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793992" y="2990088"/>
            <a:ext cx="3035808" cy="0"/>
          </a:xfrm>
          <a:prstGeom prst="rect">
            <a:avLst/>
          </a:prstGeom>
          <a:solidFill>
            <a:srgbClr val="E5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1D377C9-5CBB-C805-6313-0D7246AD57E7}"/>
              </a:ext>
            </a:extLst>
          </p:cNvPr>
          <p:cNvGrpSpPr/>
          <p:nvPr/>
        </p:nvGrpSpPr>
        <p:grpSpPr>
          <a:xfrm>
            <a:off x="6135625" y="1536786"/>
            <a:ext cx="5299629" cy="1719072"/>
            <a:chOff x="5925312" y="1536192"/>
            <a:chExt cx="4224528" cy="1719072"/>
          </a:xfrm>
        </p:grpSpPr>
        <p:sp>
          <p:nvSpPr>
            <p:cNvPr id="36" name="Rectangle 35"/>
            <p:cNvSpPr/>
            <p:nvPr/>
          </p:nvSpPr>
          <p:spPr>
            <a:xfrm>
              <a:off x="5925312" y="1536192"/>
              <a:ext cx="4224528" cy="1719072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E5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089904" y="1691640"/>
              <a:ext cx="347472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00" b="0">
                  <a:solidFill>
                    <a:srgbClr val="5F6A7D"/>
                  </a:solidFill>
                  <a:latin typeface="Arial"/>
                </a:rPr>
                <a:t>R E P E A T   R A T E   B Y   M A R K E 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089904" y="1883664"/>
              <a:ext cx="356616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10" b="0">
                  <a:solidFill>
                    <a:srgbClr val="5F6A7D"/>
                  </a:solidFill>
                  <a:latin typeface="Arial"/>
                </a:rPr>
                <a:t>Min. 30 identifiable customers · Germany leads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217920" y="2130551"/>
              <a:ext cx="566928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r"/>
              <a:r>
                <a:rPr sz="700" b="1">
                  <a:solidFill>
                    <a:srgbClr val="1F2B49"/>
                  </a:solidFill>
                  <a:latin typeface="Arial"/>
                </a:rPr>
                <a:t>Germany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793992" y="2121408"/>
              <a:ext cx="2788920" cy="13716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889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628632" y="2116837"/>
              <a:ext cx="351499" cy="20005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700" b="0" dirty="0">
                  <a:solidFill>
                    <a:schemeClr val="tx2">
                      <a:lumMod val="75000"/>
                    </a:schemeClr>
                  </a:solidFill>
                  <a:latin typeface="Arial"/>
                </a:rPr>
                <a:t>43%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217920" y="2386583"/>
              <a:ext cx="566928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r"/>
              <a:r>
                <a:rPr sz="700" b="0">
                  <a:solidFill>
                    <a:srgbClr val="1F2B49"/>
                  </a:solidFill>
                  <a:latin typeface="Arial"/>
                </a:rPr>
                <a:t>France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793992" y="2377439"/>
              <a:ext cx="2594344" cy="13716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889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434056" y="2372868"/>
              <a:ext cx="292608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00" b="0">
                  <a:solidFill>
                    <a:srgbClr val="0052B4"/>
                  </a:solidFill>
                  <a:latin typeface="Arial"/>
                </a:rPr>
                <a:t>40%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217920" y="2642615"/>
              <a:ext cx="566928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r"/>
              <a:r>
                <a:rPr sz="700" b="0">
                  <a:solidFill>
                    <a:srgbClr val="1F2B49"/>
                  </a:solidFill>
                  <a:latin typeface="Arial"/>
                </a:rPr>
                <a:t>Spain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793992" y="2633472"/>
              <a:ext cx="2464626" cy="13716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889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304338" y="2628900"/>
              <a:ext cx="292608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00" b="0">
                  <a:solidFill>
                    <a:srgbClr val="0052B4"/>
                  </a:solidFill>
                  <a:latin typeface="Arial"/>
                </a:rPr>
                <a:t>38%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217920" y="2898648"/>
              <a:ext cx="566928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r"/>
              <a:r>
                <a:rPr sz="700" b="0">
                  <a:solidFill>
                    <a:srgbClr val="1F2B49"/>
                  </a:solidFill>
                  <a:latin typeface="Arial"/>
                </a:rPr>
                <a:t>UK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793992" y="2889504"/>
              <a:ext cx="2399768" cy="1371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89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239480" y="2884932"/>
              <a:ext cx="292608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00" b="0">
                  <a:solidFill>
                    <a:srgbClr val="0052B4"/>
                  </a:solidFill>
                  <a:latin typeface="Arial"/>
                </a:rPr>
                <a:t>37%</a:t>
              </a:r>
            </a:p>
          </p:txBody>
        </p:sp>
      </p:grpSp>
      <p:sp>
        <p:nvSpPr>
          <p:cNvPr id="55" name="Rectangle 54"/>
          <p:cNvSpPr/>
          <p:nvPr/>
        </p:nvSpPr>
        <p:spPr>
          <a:xfrm>
            <a:off x="6793992" y="3182112"/>
            <a:ext cx="3035808" cy="0"/>
          </a:xfrm>
          <a:prstGeom prst="rect">
            <a:avLst/>
          </a:prstGeom>
          <a:solidFill>
            <a:srgbClr val="1F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135625" y="3372481"/>
            <a:ext cx="2907791" cy="1577890"/>
          </a:xfrm>
          <a:prstGeom prst="rect">
            <a:avLst/>
          </a:prstGeom>
          <a:solidFill>
            <a:srgbClr val="FFFFFF"/>
          </a:solidFill>
          <a:ln w="8890">
            <a:solidFill>
              <a:srgbClr val="E5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510528" y="4297680"/>
            <a:ext cx="2880359" cy="0"/>
          </a:xfrm>
          <a:prstGeom prst="rect">
            <a:avLst/>
          </a:prstGeom>
          <a:solidFill>
            <a:srgbClr val="1F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21C3422-98F3-547A-BA82-223AC114DC66}"/>
              </a:ext>
            </a:extLst>
          </p:cNvPr>
          <p:cNvGrpSpPr/>
          <p:nvPr/>
        </p:nvGrpSpPr>
        <p:grpSpPr>
          <a:xfrm>
            <a:off x="6254496" y="3410712"/>
            <a:ext cx="2926080" cy="1449751"/>
            <a:chOff x="6254496" y="3410712"/>
            <a:chExt cx="2926080" cy="1449751"/>
          </a:xfrm>
        </p:grpSpPr>
        <p:sp>
          <p:nvSpPr>
            <p:cNvPr id="57" name="TextBox 56"/>
            <p:cNvSpPr txBox="1"/>
            <p:nvPr/>
          </p:nvSpPr>
          <p:spPr>
            <a:xfrm>
              <a:off x="6254496" y="3410712"/>
              <a:ext cx="292608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680" b="0">
                  <a:solidFill>
                    <a:srgbClr val="5F6A7D"/>
                  </a:solidFill>
                  <a:latin typeface="Arial"/>
                </a:rPr>
                <a:t>P U R C H A S E   F R E Q U E N C Y   B Y   M A R K E T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254496" y="3602736"/>
              <a:ext cx="2834640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00" b="0">
                  <a:solidFill>
                    <a:srgbClr val="5F6A7D"/>
                  </a:solidFill>
                  <a:latin typeface="Arial"/>
                </a:rPr>
                <a:t>Avg completed orders / identifiable customer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775704" y="4704588"/>
              <a:ext cx="658368" cy="155448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ctr"/>
              <a:r>
                <a:rPr sz="670" b="0" dirty="0">
                  <a:solidFill>
                    <a:srgbClr val="1F2B49"/>
                  </a:solidFill>
                  <a:latin typeface="Arial"/>
                </a:rPr>
                <a:t>Germany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967728" y="4021455"/>
              <a:ext cx="219456" cy="634746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889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907924" y="3826398"/>
              <a:ext cx="309700" cy="200055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00" b="0" dirty="0">
                  <a:solidFill>
                    <a:schemeClr val="tx2">
                      <a:lumMod val="50000"/>
                    </a:schemeClr>
                  </a:solidFill>
                  <a:latin typeface="Arial"/>
                </a:rPr>
                <a:t>4.9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392924" y="4705015"/>
              <a:ext cx="658368" cy="155448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ctr"/>
              <a:r>
                <a:rPr sz="670" b="0" dirty="0">
                  <a:solidFill>
                    <a:srgbClr val="1F2B49"/>
                  </a:solidFill>
                  <a:latin typeface="Arial"/>
                </a:rPr>
                <a:t>France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616951" y="4073271"/>
              <a:ext cx="219456" cy="58293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889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550486" y="3856101"/>
              <a:ext cx="309700" cy="200055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00" b="0" dirty="0">
                  <a:solidFill>
                    <a:schemeClr val="tx2">
                      <a:lumMod val="75000"/>
                    </a:schemeClr>
                  </a:solidFill>
                  <a:latin typeface="Arial"/>
                </a:rPr>
                <a:t>4.5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071157" y="4705015"/>
              <a:ext cx="658368" cy="155448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ctr"/>
              <a:r>
                <a:rPr sz="670" b="0" dirty="0">
                  <a:solidFill>
                    <a:srgbClr val="1F2B49"/>
                  </a:solidFill>
                  <a:latin typeface="Arial"/>
                </a:rPr>
                <a:t>United Kingdom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8266176" y="4112133"/>
              <a:ext cx="219456" cy="54406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889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220455" y="3926100"/>
              <a:ext cx="384048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00" b="0" dirty="0">
                  <a:solidFill>
                    <a:srgbClr val="0052B4"/>
                  </a:solidFill>
                  <a:latin typeface="Arial"/>
                </a:rPr>
                <a:t>4.2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345936" y="4116705"/>
              <a:ext cx="146304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630" b="0">
                  <a:solidFill>
                    <a:srgbClr val="5F6A7D"/>
                  </a:solidFill>
                  <a:latin typeface="Arial"/>
                </a:rPr>
                <a:t>6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363804" y="4428113"/>
              <a:ext cx="146304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630" b="0" dirty="0">
                  <a:solidFill>
                    <a:srgbClr val="5F6A7D"/>
                  </a:solidFill>
                  <a:latin typeface="Arial"/>
                </a:rPr>
                <a:t>0</a:t>
              </a:r>
            </a:p>
          </p:txBody>
        </p:sp>
      </p:grpSp>
      <p:sp>
        <p:nvSpPr>
          <p:cNvPr id="71" name="Rectangle 70"/>
          <p:cNvSpPr/>
          <p:nvPr/>
        </p:nvSpPr>
        <p:spPr>
          <a:xfrm>
            <a:off x="9180576" y="3372481"/>
            <a:ext cx="2254679" cy="1577889"/>
          </a:xfrm>
          <a:prstGeom prst="rect">
            <a:avLst/>
          </a:prstGeom>
          <a:solidFill>
            <a:srgbClr val="FFFFFF"/>
          </a:solidFill>
          <a:ln w="8890">
            <a:solidFill>
              <a:srgbClr val="E5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77224" y="3431548"/>
            <a:ext cx="1554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80" b="0" dirty="0">
                <a:solidFill>
                  <a:srgbClr val="5F6A7D"/>
                </a:solidFill>
                <a:latin typeface="Arial"/>
              </a:rPr>
              <a:t>R E A C H   </a:t>
            </a:r>
            <a:r>
              <a:rPr sz="680" b="0" dirty="0" err="1">
                <a:solidFill>
                  <a:srgbClr val="5F6A7D"/>
                </a:solidFill>
                <a:latin typeface="Arial"/>
              </a:rPr>
              <a:t>H</a:t>
            </a:r>
            <a:r>
              <a:rPr sz="680" b="0" dirty="0">
                <a:solidFill>
                  <a:srgbClr val="5F6A7D"/>
                </a:solidFill>
                <a:latin typeface="Arial"/>
              </a:rPr>
              <a:t> E A T M A 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28048" y="3635212"/>
            <a:ext cx="1554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70" b="0">
                <a:solidFill>
                  <a:srgbClr val="5F6A7D"/>
                </a:solidFill>
                <a:latin typeface="Arial"/>
              </a:rPr>
              <a:t>Top products vs top markets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4FB9CD3-93E4-93B4-AF70-ADC76512D596}"/>
              </a:ext>
            </a:extLst>
          </p:cNvPr>
          <p:cNvGrpSpPr/>
          <p:nvPr/>
        </p:nvGrpSpPr>
        <p:grpSpPr>
          <a:xfrm>
            <a:off x="9802368" y="3781044"/>
            <a:ext cx="1426464" cy="146304"/>
            <a:chOff x="10241280" y="3813048"/>
            <a:chExt cx="1426464" cy="146304"/>
          </a:xfrm>
        </p:grpSpPr>
        <p:sp>
          <p:nvSpPr>
            <p:cNvPr id="74" name="TextBox 73"/>
            <p:cNvSpPr txBox="1"/>
            <p:nvPr/>
          </p:nvSpPr>
          <p:spPr>
            <a:xfrm>
              <a:off x="10241280" y="3813048"/>
              <a:ext cx="274320" cy="146304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ctr"/>
              <a:r>
                <a:rPr sz="580" b="0" dirty="0">
                  <a:solidFill>
                    <a:srgbClr val="5F6A7D"/>
                  </a:solidFill>
                  <a:latin typeface="Arial"/>
                </a:rPr>
                <a:t>UK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0625328" y="3813048"/>
              <a:ext cx="274320" cy="146304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ctr"/>
              <a:r>
                <a:rPr sz="580" b="0">
                  <a:solidFill>
                    <a:srgbClr val="5F6A7D"/>
                  </a:solidFill>
                  <a:latin typeface="Arial"/>
                </a:rPr>
                <a:t>NL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1009376" y="3813048"/>
              <a:ext cx="274320" cy="146304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ctr"/>
              <a:r>
                <a:rPr sz="580" b="0">
                  <a:solidFill>
                    <a:srgbClr val="5F6A7D"/>
                  </a:solidFill>
                  <a:latin typeface="Arial"/>
                </a:rPr>
                <a:t>DE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1393424" y="3813048"/>
              <a:ext cx="274320" cy="146304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ctr"/>
              <a:r>
                <a:rPr sz="580" b="0">
                  <a:solidFill>
                    <a:srgbClr val="5F6A7D"/>
                  </a:solidFill>
                  <a:latin typeface="Arial"/>
                </a:rPr>
                <a:t>FR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E121BA7-9087-0616-71C5-6A82811245EA}"/>
              </a:ext>
            </a:extLst>
          </p:cNvPr>
          <p:cNvGrpSpPr/>
          <p:nvPr/>
        </p:nvGrpSpPr>
        <p:grpSpPr>
          <a:xfrm>
            <a:off x="9336023" y="3884354"/>
            <a:ext cx="256032" cy="818388"/>
            <a:chOff x="9336023" y="3884354"/>
            <a:chExt cx="256032" cy="818388"/>
          </a:xfrm>
        </p:grpSpPr>
        <p:sp>
          <p:nvSpPr>
            <p:cNvPr id="78" name="TextBox 77"/>
            <p:cNvSpPr txBox="1"/>
            <p:nvPr/>
          </p:nvSpPr>
          <p:spPr>
            <a:xfrm>
              <a:off x="9336023" y="3884354"/>
              <a:ext cx="256032" cy="146304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580" b="0" dirty="0">
                  <a:solidFill>
                    <a:srgbClr val="1F2B49"/>
                  </a:solidFill>
                  <a:latin typeface="Arial"/>
                </a:rPr>
                <a:t>CAKE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336023" y="4108382"/>
              <a:ext cx="256032" cy="146304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580" b="0">
                  <a:solidFill>
                    <a:srgbClr val="1F2B49"/>
                  </a:solidFill>
                  <a:latin typeface="Arial"/>
                </a:rPr>
                <a:t>HEART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9336023" y="4332410"/>
              <a:ext cx="256032" cy="146304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580" b="0">
                  <a:solidFill>
                    <a:srgbClr val="1F2B49"/>
                  </a:solidFill>
                  <a:latin typeface="Arial"/>
                </a:rPr>
                <a:t>BUNT.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9336023" y="4556438"/>
              <a:ext cx="256032" cy="146304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580" b="0">
                  <a:solidFill>
                    <a:srgbClr val="1F2B49"/>
                  </a:solidFill>
                  <a:latin typeface="Arial"/>
                </a:rPr>
                <a:t>JUMBO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9436578-8518-1C75-9C0D-A82A088DD5B6}"/>
              </a:ext>
            </a:extLst>
          </p:cNvPr>
          <p:cNvGrpSpPr/>
          <p:nvPr/>
        </p:nvGrpSpPr>
        <p:grpSpPr>
          <a:xfrm>
            <a:off x="9802368" y="3947486"/>
            <a:ext cx="1463040" cy="809244"/>
            <a:chOff x="10241280" y="3959352"/>
            <a:chExt cx="1463040" cy="809244"/>
          </a:xfrm>
        </p:grpSpPr>
        <p:sp>
          <p:nvSpPr>
            <p:cNvPr id="79" name="Rectangle 78"/>
            <p:cNvSpPr/>
            <p:nvPr/>
          </p:nvSpPr>
          <p:spPr>
            <a:xfrm>
              <a:off x="10241280" y="3959352"/>
              <a:ext cx="310896" cy="137160"/>
            </a:xfrm>
            <a:prstGeom prst="rect">
              <a:avLst/>
            </a:prstGeom>
            <a:solidFill>
              <a:srgbClr val="547FC6"/>
            </a:solidFill>
            <a:ln w="8890">
              <a:solidFill>
                <a:srgbClr val="547FC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0625328" y="3959352"/>
              <a:ext cx="310896" cy="137160"/>
            </a:xfrm>
            <a:prstGeom prst="rect">
              <a:avLst/>
            </a:prstGeom>
            <a:solidFill>
              <a:srgbClr val="A9BFE3"/>
            </a:solidFill>
            <a:ln w="8890">
              <a:solidFill>
                <a:srgbClr val="A9BF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1009376" y="3959352"/>
              <a:ext cx="310896" cy="137160"/>
            </a:xfrm>
            <a:prstGeom prst="rect">
              <a:avLst/>
            </a:prstGeom>
            <a:solidFill>
              <a:srgbClr val="B0C4E5"/>
            </a:solidFill>
            <a:ln w="8890">
              <a:solidFill>
                <a:srgbClr val="B0C4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1393424" y="3959352"/>
              <a:ext cx="310896" cy="137160"/>
            </a:xfrm>
            <a:prstGeom prst="rect">
              <a:avLst/>
            </a:prstGeom>
            <a:solidFill>
              <a:srgbClr val="B0C4E5"/>
            </a:solidFill>
            <a:ln w="8890">
              <a:solidFill>
                <a:srgbClr val="B0C4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0241280" y="4183380"/>
              <a:ext cx="310896" cy="137160"/>
            </a:xfrm>
            <a:prstGeom prst="rect">
              <a:avLst/>
            </a:prstGeom>
            <a:solidFill>
              <a:srgbClr val="4B78C3"/>
            </a:solidFill>
            <a:ln w="8890">
              <a:solidFill>
                <a:srgbClr val="4B78C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0625328" y="4183380"/>
              <a:ext cx="310896" cy="137160"/>
            </a:xfrm>
            <a:prstGeom prst="rect">
              <a:avLst/>
            </a:prstGeom>
            <a:solidFill>
              <a:srgbClr val="DBE4F3"/>
            </a:solidFill>
            <a:ln w="8890">
              <a:solidFill>
                <a:srgbClr val="DBE4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1009376" y="4183380"/>
              <a:ext cx="310896" cy="137160"/>
            </a:xfrm>
            <a:prstGeom prst="rect">
              <a:avLst/>
            </a:prstGeom>
            <a:solidFill>
              <a:srgbClr val="DBE4F3"/>
            </a:solidFill>
            <a:ln w="8890">
              <a:solidFill>
                <a:srgbClr val="DBE4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1393424" y="4183380"/>
              <a:ext cx="310896" cy="137160"/>
            </a:xfrm>
            <a:prstGeom prst="rect">
              <a:avLst/>
            </a:prstGeom>
            <a:solidFill>
              <a:srgbClr val="A5BCE1"/>
            </a:solidFill>
            <a:ln w="8890">
              <a:solidFill>
                <a:srgbClr val="A5BC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10241280" y="4407408"/>
              <a:ext cx="310896" cy="137160"/>
            </a:xfrm>
            <a:prstGeom prst="rect">
              <a:avLst/>
            </a:prstGeom>
            <a:solidFill>
              <a:srgbClr val="A9BFE3"/>
            </a:solidFill>
            <a:ln w="8890">
              <a:solidFill>
                <a:srgbClr val="A9BF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0625328" y="4407408"/>
              <a:ext cx="310896" cy="137160"/>
            </a:xfrm>
            <a:prstGeom prst="rect">
              <a:avLst/>
            </a:prstGeom>
            <a:solidFill>
              <a:srgbClr val="DFE7F5"/>
            </a:solidFill>
            <a:ln w="8890">
              <a:solidFill>
                <a:srgbClr val="DFE7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1009376" y="4407408"/>
              <a:ext cx="310896" cy="137160"/>
            </a:xfrm>
            <a:prstGeom prst="rect">
              <a:avLst/>
            </a:prstGeom>
            <a:solidFill>
              <a:srgbClr val="DBE4F3"/>
            </a:solidFill>
            <a:ln w="8890">
              <a:solidFill>
                <a:srgbClr val="DBE4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11393424" y="4407408"/>
              <a:ext cx="310896" cy="137160"/>
            </a:xfrm>
            <a:prstGeom prst="rect">
              <a:avLst/>
            </a:prstGeom>
            <a:solidFill>
              <a:srgbClr val="D8E2F2"/>
            </a:solidFill>
            <a:ln w="8890">
              <a:solidFill>
                <a:srgbClr val="D8E2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0241280" y="4631436"/>
              <a:ext cx="310896" cy="137160"/>
            </a:xfrm>
            <a:prstGeom prst="rect">
              <a:avLst/>
            </a:prstGeom>
            <a:solidFill>
              <a:srgbClr val="4B78C3"/>
            </a:solidFill>
            <a:ln w="8890">
              <a:solidFill>
                <a:srgbClr val="4B78C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10625328" y="4631436"/>
              <a:ext cx="310896" cy="137160"/>
            </a:xfrm>
            <a:prstGeom prst="rect">
              <a:avLst/>
            </a:prstGeom>
            <a:solidFill>
              <a:srgbClr val="DBE4F3"/>
            </a:solidFill>
            <a:ln w="8890">
              <a:solidFill>
                <a:srgbClr val="DBE4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11009376" y="4631436"/>
              <a:ext cx="310896" cy="137160"/>
            </a:xfrm>
            <a:prstGeom prst="rect">
              <a:avLst/>
            </a:prstGeom>
            <a:solidFill>
              <a:srgbClr val="B0C4E5"/>
            </a:solidFill>
            <a:ln w="8890">
              <a:solidFill>
                <a:srgbClr val="B0C4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11393424" y="4631436"/>
              <a:ext cx="310896" cy="137160"/>
            </a:xfrm>
            <a:prstGeom prst="rect">
              <a:avLst/>
            </a:prstGeom>
            <a:solidFill>
              <a:srgbClr val="DBE4F3"/>
            </a:solidFill>
            <a:ln w="8890">
              <a:solidFill>
                <a:srgbClr val="DBE4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D16DC5C4-0054-496C-3198-AB02D5A1F497}"/>
              </a:ext>
            </a:extLst>
          </p:cNvPr>
          <p:cNvGrpSpPr/>
          <p:nvPr/>
        </p:nvGrpSpPr>
        <p:grpSpPr>
          <a:xfrm>
            <a:off x="507236" y="5316999"/>
            <a:ext cx="10776459" cy="686273"/>
            <a:chOff x="502920" y="4745263"/>
            <a:chExt cx="5698750" cy="686273"/>
          </a:xfrm>
        </p:grpSpPr>
        <p:sp>
          <p:nvSpPr>
            <p:cNvPr id="98" name="Rectangle 97"/>
            <p:cNvSpPr/>
            <p:nvPr/>
          </p:nvSpPr>
          <p:spPr>
            <a:xfrm>
              <a:off x="550678" y="4745263"/>
              <a:ext cx="5650992" cy="676656"/>
            </a:xfrm>
            <a:prstGeom prst="rect">
              <a:avLst/>
            </a:prstGeom>
            <a:solidFill>
              <a:srgbClr val="F5F7FA"/>
            </a:solidFill>
            <a:ln w="8890">
              <a:solidFill>
                <a:srgbClr val="F5F7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502920" y="4754880"/>
              <a:ext cx="22860" cy="676656"/>
            </a:xfrm>
            <a:prstGeom prst="rect">
              <a:avLst/>
            </a:prstGeom>
            <a:solidFill>
              <a:srgbClr val="F2741F"/>
            </a:solidFill>
            <a:ln w="8890">
              <a:solidFill>
                <a:srgbClr val="F2741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685800" y="4965192"/>
              <a:ext cx="640080" cy="155448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660" b="0">
                  <a:solidFill>
                    <a:srgbClr val="F2741F"/>
                  </a:solidFill>
                  <a:latin typeface="Arial"/>
                </a:rPr>
                <a:t>T A K E A W A Y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1688971" y="5487162"/>
            <a:ext cx="953338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dirty="0">
                <a:solidFill>
                  <a:srgbClr val="1F2B49"/>
                </a:solidFill>
                <a:latin typeface="Arial"/>
              </a:rPr>
              <a:t>Germany and France show stronger customer engagement than the UK on repeat rate, while the UK remains the dominant market by sales volume — a structural source of growth potential outside the UK.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2920" y="6245352"/>
            <a:ext cx="11155680" cy="0"/>
          </a:xfrm>
          <a:prstGeom prst="rect">
            <a:avLst/>
          </a:prstGeom>
          <a:solidFill>
            <a:srgbClr val="E5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02920" y="6428232"/>
            <a:ext cx="4455066" cy="2200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lang="en-IN" sz="800" b="1" dirty="0">
                <a:solidFill>
                  <a:srgbClr val="94A3B8"/>
                </a:solidFill>
                <a:latin typeface="Inter"/>
              </a:rPr>
              <a:t>10 / 12  </a:t>
            </a:r>
            <a:r>
              <a:rPr sz="830" b="0" dirty="0">
                <a:solidFill>
                  <a:srgbClr val="5F6A7D"/>
                </a:solidFill>
                <a:latin typeface="Arial"/>
              </a:rPr>
              <a:t>Min. 30 identifiable customers per market   ·   Reach counts are top-product anchors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AE784F8-C231-41C8-D96F-B40791C20EA4}"/>
              </a:ext>
            </a:extLst>
          </p:cNvPr>
          <p:cNvSpPr/>
          <p:nvPr/>
        </p:nvSpPr>
        <p:spPr>
          <a:xfrm>
            <a:off x="542544" y="946980"/>
            <a:ext cx="576000" cy="36000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36C21"/>
              </a:solidFill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E5619F0-F0F5-F0DD-5339-4C67084D2395}"/>
              </a:ext>
            </a:extLst>
          </p:cNvPr>
          <p:cNvGrpSpPr/>
          <p:nvPr/>
        </p:nvGrpSpPr>
        <p:grpSpPr>
          <a:xfrm>
            <a:off x="506024" y="1540647"/>
            <a:ext cx="6127458" cy="3409724"/>
            <a:chOff x="524256" y="1594313"/>
            <a:chExt cx="6127458" cy="2886243"/>
          </a:xfrm>
        </p:grpSpPr>
        <p:sp>
          <p:nvSpPr>
            <p:cNvPr id="6" name="Rectangle 5"/>
            <p:cNvSpPr/>
            <p:nvPr/>
          </p:nvSpPr>
          <p:spPr>
            <a:xfrm>
              <a:off x="524256" y="1594313"/>
              <a:ext cx="5538216" cy="2886243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E5E8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8368" y="1691640"/>
              <a:ext cx="448056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00" b="0" dirty="0">
                  <a:solidFill>
                    <a:srgbClr val="5F6A7D"/>
                  </a:solidFill>
                  <a:latin typeface="Arial"/>
                </a:rPr>
                <a:t>T O P   </a:t>
              </a:r>
              <a:r>
                <a:rPr sz="700" b="0" dirty="0" err="1">
                  <a:solidFill>
                    <a:srgbClr val="5F6A7D"/>
                  </a:solidFill>
                  <a:latin typeface="Arial"/>
                </a:rPr>
                <a:t>P</a:t>
              </a:r>
              <a:r>
                <a:rPr sz="700" b="0" dirty="0">
                  <a:solidFill>
                    <a:srgbClr val="5F6A7D"/>
                  </a:solidFill>
                  <a:latin typeface="Arial"/>
                </a:rPr>
                <a:t> R O D U C T S   B Y   U N I Q U E   R E G I S T E R E D   C U S T O M E R 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58368" y="1883664"/>
              <a:ext cx="438912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20" b="0">
                  <a:solidFill>
                    <a:srgbClr val="5F6A7D"/>
                  </a:solidFill>
                  <a:latin typeface="Arial"/>
                </a:rPr>
                <a:t>Products reaching the widest registered customer base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8368" y="2194560"/>
              <a:ext cx="1874519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r"/>
              <a:r>
                <a:rPr sz="670" b="1">
                  <a:solidFill>
                    <a:srgbClr val="1F2B49"/>
                  </a:solidFill>
                  <a:latin typeface="Arial"/>
                </a:rPr>
                <a:t>REGENCY CAKESTAND 3 TIER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70048" y="2212848"/>
              <a:ext cx="2870240" cy="12344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889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8368" y="2528316"/>
              <a:ext cx="1874519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r"/>
              <a:r>
                <a:rPr sz="670" b="1">
                  <a:solidFill>
                    <a:srgbClr val="1F2B49"/>
                  </a:solidFill>
                  <a:latin typeface="Arial"/>
                </a:rPr>
                <a:t>WHITE HANGING HEART T-LIGHT HOLDER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670048" y="2546604"/>
              <a:ext cx="2754660" cy="123444"/>
            </a:xfrm>
            <a:prstGeom prst="rect">
              <a:avLst/>
            </a:prstGeom>
            <a:solidFill>
              <a:srgbClr val="073256"/>
            </a:solidFill>
            <a:ln w="8890">
              <a:solidFill>
                <a:srgbClr val="0052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79572" y="2542032"/>
              <a:ext cx="411480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10" b="0">
                  <a:solidFill>
                    <a:srgbClr val="0052B4"/>
                  </a:solidFill>
                  <a:latin typeface="Arial"/>
                </a:rPr>
                <a:t>858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8368" y="2862072"/>
              <a:ext cx="1874519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r"/>
              <a:r>
                <a:rPr sz="670" b="1">
                  <a:solidFill>
                    <a:srgbClr val="1F2B49"/>
                  </a:solidFill>
                  <a:latin typeface="Arial"/>
                </a:rPr>
                <a:t>PARTY BUNTING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670048" y="2880360"/>
              <a:ext cx="2273076" cy="12344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8890">
              <a:solidFill>
                <a:srgbClr val="0052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997988" y="2875788"/>
              <a:ext cx="411480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10" b="0">
                  <a:solidFill>
                    <a:srgbClr val="0052B4"/>
                  </a:solidFill>
                  <a:latin typeface="Arial"/>
                </a:rPr>
                <a:t>708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8368" y="3195827"/>
              <a:ext cx="1874519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r"/>
              <a:r>
                <a:rPr sz="670" b="1">
                  <a:solidFill>
                    <a:srgbClr val="1F2B49"/>
                  </a:solidFill>
                  <a:latin typeface="Arial"/>
                </a:rPr>
                <a:t>ASSORTED COLOUR BIRD ORNAMENT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670048" y="3214115"/>
              <a:ext cx="2090074" cy="123444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8890">
              <a:solidFill>
                <a:srgbClr val="0052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814986" y="3209544"/>
              <a:ext cx="411480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10" b="0">
                  <a:solidFill>
                    <a:srgbClr val="0052B4"/>
                  </a:solidFill>
                  <a:latin typeface="Arial"/>
                </a:rPr>
                <a:t>651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58368" y="3529584"/>
              <a:ext cx="1874519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r"/>
              <a:r>
                <a:rPr sz="670" b="1">
                  <a:solidFill>
                    <a:srgbClr val="1F2B49"/>
                  </a:solidFill>
                  <a:latin typeface="Arial"/>
                </a:rPr>
                <a:t>JUMBO BAG RED RETROSPOT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670048" y="3547872"/>
              <a:ext cx="1996968" cy="12344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890">
              <a:solidFill>
                <a:srgbClr val="0052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21880" y="3543300"/>
              <a:ext cx="411480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10" b="0">
                  <a:solidFill>
                    <a:srgbClr val="0052B4"/>
                  </a:solidFill>
                  <a:latin typeface="Arial"/>
                </a:rPr>
                <a:t>622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58368" y="3863340"/>
              <a:ext cx="1874519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r"/>
              <a:r>
                <a:rPr sz="670" b="1">
                  <a:solidFill>
                    <a:srgbClr val="1F2B49"/>
                  </a:solidFill>
                  <a:latin typeface="Arial"/>
                </a:rPr>
                <a:t>BREAKFAST APOTHECARY JAR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670048" y="3881628"/>
              <a:ext cx="1862124" cy="12344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8890">
              <a:solidFill>
                <a:srgbClr val="0052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587036" y="3877056"/>
              <a:ext cx="411480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710" b="0">
                  <a:solidFill>
                    <a:srgbClr val="0052B4"/>
                  </a:solidFill>
                  <a:latin typeface="Arial"/>
                </a:rPr>
                <a:t>580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70048" y="4160520"/>
              <a:ext cx="228600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650" b="0">
                  <a:solidFill>
                    <a:srgbClr val="5F6A7D"/>
                  </a:solidFill>
                  <a:latin typeface="Arial"/>
                </a:rPr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041648" y="4160520"/>
              <a:ext cx="457200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650" b="0">
                  <a:solidFill>
                    <a:srgbClr val="5F6A7D"/>
                  </a:solidFill>
                  <a:latin typeface="Arial"/>
                </a:rPr>
                <a:t>400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157216" y="4160520"/>
              <a:ext cx="594360" cy="164592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650" b="0">
                  <a:solidFill>
                    <a:srgbClr val="5F6A7D"/>
                  </a:solidFill>
                  <a:latin typeface="Arial"/>
                </a:rPr>
                <a:t>800 customers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B6FF7EC-5D31-EA88-54B0-18825D1812DB}"/>
                </a:ext>
              </a:extLst>
            </p:cNvPr>
            <p:cNvSpPr txBox="1"/>
            <p:nvPr/>
          </p:nvSpPr>
          <p:spPr>
            <a:xfrm>
              <a:off x="5623272" y="2167619"/>
              <a:ext cx="1028442" cy="20159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710" b="0" dirty="0">
                  <a:solidFill>
                    <a:srgbClr val="073256"/>
                  </a:solidFill>
                  <a:latin typeface="Arial"/>
                </a:rPr>
                <a:t>858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1F2B49"/>
          </a:solidFill>
          <a:ln w="8890">
            <a:solidFill>
              <a:srgbClr val="1F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56616"/>
            <a:ext cx="4405373" cy="20313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20" b="0" spc="300" dirty="0">
                <a:solidFill>
                  <a:srgbClr val="F2741F"/>
                </a:solidFill>
                <a:latin typeface="Arial"/>
              </a:rPr>
              <a:t>1 </a:t>
            </a:r>
            <a:r>
              <a:rPr lang="en-IN" sz="720" b="0" spc="300" dirty="0">
                <a:solidFill>
                  <a:srgbClr val="F2741F"/>
                </a:solidFill>
                <a:latin typeface="Arial"/>
              </a:rPr>
              <a:t>1</a:t>
            </a:r>
            <a:r>
              <a:rPr sz="720" b="0" spc="300" dirty="0">
                <a:solidFill>
                  <a:srgbClr val="F2741F"/>
                </a:solidFill>
                <a:latin typeface="Arial"/>
              </a:rPr>
              <a:t>  B U S I N E S </a:t>
            </a:r>
            <a:r>
              <a:rPr sz="720" b="0" spc="300" dirty="0" err="1">
                <a:solidFill>
                  <a:srgbClr val="F2741F"/>
                </a:solidFill>
                <a:latin typeface="Arial"/>
              </a:rPr>
              <a:t>S</a:t>
            </a:r>
            <a:r>
              <a:rPr sz="720" b="0" spc="300" dirty="0">
                <a:solidFill>
                  <a:srgbClr val="F2741F"/>
                </a:solidFill>
                <a:latin typeface="Arial"/>
              </a:rPr>
              <a:t>   R E C O M  E N D A T I O N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6354"/>
            <a:ext cx="1115568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50" b="1" dirty="0">
                <a:solidFill>
                  <a:srgbClr val="1F2B49"/>
                </a:solidFill>
                <a:latin typeface="Georgia"/>
              </a:rPr>
              <a:t>Protect year-end revenue, plug leakage, deepen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86901"/>
            <a:ext cx="11064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 dirty="0">
                <a:solidFill>
                  <a:srgbClr val="1F2B49"/>
                </a:solidFill>
                <a:latin typeface="Arial"/>
              </a:rPr>
              <a:t>Seven action lines organized by impact × effort. Prioritize seasonal readiness, cancellation reduction and registered-customer retention — they touch the biggest numbers in the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6355080" cy="4224528"/>
          </a:xfrm>
          <a:prstGeom prst="rect">
            <a:avLst/>
          </a:prstGeom>
          <a:solidFill>
            <a:srgbClr val="FFFFFF"/>
          </a:solidFill>
          <a:ln w="8890">
            <a:solidFill>
              <a:srgbClr val="E5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700784"/>
            <a:ext cx="2743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>
                <a:solidFill>
                  <a:srgbClr val="687385"/>
                </a:solidFill>
                <a:latin typeface="Arial"/>
              </a:rPr>
              <a:t>I M P A C T   ×   E F F O R T   M A T R I X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2728" y="2167128"/>
            <a:ext cx="5084064" cy="3182112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328416"/>
            <a:ext cx="594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30" b="0">
                <a:solidFill>
                  <a:srgbClr val="1F2B49"/>
                </a:solidFill>
                <a:latin typeface="Arial"/>
              </a:rPr>
              <a:t>Q U I C K   W I N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328416"/>
            <a:ext cx="10515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30" b="0">
                <a:solidFill>
                  <a:srgbClr val="1F2B49"/>
                </a:solidFill>
                <a:latin typeface="Arial"/>
              </a:rPr>
              <a:t>S T R A T E G I C   B E T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74920"/>
            <a:ext cx="9601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30" b="0">
                <a:solidFill>
                  <a:srgbClr val="1F2B49"/>
                </a:solidFill>
                <a:latin typeface="Arial"/>
              </a:rPr>
              <a:t>M A I N T E N A N C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5074920"/>
            <a:ext cx="8229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30" b="0">
                <a:solidFill>
                  <a:srgbClr val="1F2B49"/>
                </a:solidFill>
                <a:latin typeface="Arial"/>
              </a:rPr>
              <a:t>O P E R A T I O N A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84448"/>
            <a:ext cx="201168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600" b="0">
                <a:solidFill>
                  <a:srgbClr val="687385"/>
                </a:solidFill>
                <a:latin typeface="Arial"/>
              </a:rPr>
              <a:t>I
M
P
A
C
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5413248"/>
            <a:ext cx="2057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20" b="0">
                <a:solidFill>
                  <a:srgbClr val="687385"/>
                </a:solidFill>
                <a:latin typeface="Arial"/>
              </a:rPr>
              <a:t>E F F O R T  →  (low to high)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5728" y="2432304"/>
            <a:ext cx="1170432" cy="320040"/>
          </a:xfrm>
          <a:prstGeom prst="roundRect">
            <a:avLst>
              <a:gd name="adj" fmla="val 15000"/>
            </a:avLst>
          </a:prstGeom>
          <a:solidFill>
            <a:srgbClr val="D63B36"/>
          </a:solidFill>
          <a:ln w="8890">
            <a:solidFill>
              <a:srgbClr val="BE3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2514600"/>
            <a:ext cx="1024128" cy="1280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Arial"/>
              </a:rPr>
              <a:t>Cancellation reduction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2295144"/>
            <a:ext cx="1261872" cy="320040"/>
          </a:xfrm>
          <a:prstGeom prst="roundRect">
            <a:avLst>
              <a:gd name="adj" fmla="val 15000"/>
            </a:avLst>
          </a:prstGeom>
          <a:solidFill>
            <a:srgbClr val="F2741F"/>
          </a:solidFill>
          <a:ln w="8890">
            <a:solidFill>
              <a:srgbClr val="F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9976" y="2377440"/>
            <a:ext cx="1143000" cy="1280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Arial"/>
              </a:rPr>
              <a:t>Seasonal readiness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06624" y="2852928"/>
            <a:ext cx="1161288" cy="320040"/>
          </a:xfrm>
          <a:prstGeom prst="roundRect">
            <a:avLst>
              <a:gd name="adj" fmla="val 15000"/>
            </a:avLst>
          </a:prstGeom>
          <a:solidFill>
            <a:srgbClr val="48A538"/>
          </a:solidFill>
          <a:ln w="8890">
            <a:solidFill>
              <a:srgbClr val="1F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70632" y="2935224"/>
            <a:ext cx="1033271" cy="1280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Arial"/>
              </a:rPr>
              <a:t>Registered retention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9744" y="2779776"/>
            <a:ext cx="1261872" cy="320040"/>
          </a:xfrm>
          <a:prstGeom prst="roundRect">
            <a:avLst>
              <a:gd name="adj" fmla="val 15000"/>
            </a:avLst>
          </a:prstGeom>
          <a:solidFill>
            <a:srgbClr val="073256"/>
          </a:solidFill>
          <a:ln w="8890">
            <a:solidFill>
              <a:srgbClr val="00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73752" y="2862072"/>
            <a:ext cx="1133856" cy="1280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Arial"/>
              </a:rPr>
              <a:t>Market diversification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44752" y="4096512"/>
            <a:ext cx="1143000" cy="320040"/>
          </a:xfrm>
          <a:prstGeom prst="roundRect">
            <a:avLst>
              <a:gd name="adj" fmla="val 15000"/>
            </a:avLst>
          </a:prstGeom>
          <a:solidFill>
            <a:srgbClr val="F2741F"/>
          </a:solidFill>
          <a:ln w="8890">
            <a:solidFill>
              <a:srgbClr val="F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17904" y="4178808"/>
            <a:ext cx="987552" cy="1280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rial"/>
              </a:rPr>
              <a:t>Guest → Registered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53512" y="4224528"/>
            <a:ext cx="1280160" cy="320040"/>
          </a:xfrm>
          <a:prstGeom prst="roundRect">
            <a:avLst>
              <a:gd name="adj" fmla="val 15000"/>
            </a:avLst>
          </a:prstGeom>
          <a:solidFill>
            <a:srgbClr val="073256"/>
          </a:solidFill>
          <a:ln w="8890">
            <a:solidFill>
              <a:srgbClr val="1F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17520" y="4306824"/>
            <a:ext cx="1152144" cy="1280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Arial"/>
              </a:rPr>
              <a:t>Product planning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1728" y="4224528"/>
            <a:ext cx="1280160" cy="320040"/>
          </a:xfrm>
          <a:prstGeom prst="roundRect">
            <a:avLst>
              <a:gd name="adj" fmla="val 15000"/>
            </a:avLst>
          </a:prstGeom>
          <a:solidFill>
            <a:srgbClr val="F5904C"/>
          </a:solidFill>
          <a:ln w="8890">
            <a:solidFill>
              <a:srgbClr val="687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45736" y="4306824"/>
            <a:ext cx="1143000" cy="1280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590" b="1">
                <a:solidFill>
                  <a:srgbClr val="FFFFFF"/>
                </a:solidFill>
                <a:latin typeface="Arial"/>
              </a:rPr>
              <a:t>Customer-specific marketing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1536192"/>
            <a:ext cx="4800600" cy="4224528"/>
          </a:xfrm>
          <a:prstGeom prst="rect">
            <a:avLst/>
          </a:prstGeom>
          <a:solidFill>
            <a:srgbClr val="FFFFFF"/>
          </a:solidFill>
          <a:ln w="8890">
            <a:solidFill>
              <a:srgbClr val="E5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59752" y="1700784"/>
            <a:ext cx="21945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0">
                <a:solidFill>
                  <a:srgbClr val="687385"/>
                </a:solidFill>
                <a:latin typeface="Arial"/>
              </a:rPr>
              <a:t>A C T I O N   P A T H W A 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9752" y="1892807"/>
            <a:ext cx="2560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10" b="0">
                <a:solidFill>
                  <a:srgbClr val="687385"/>
                </a:solidFill>
                <a:latin typeface="Arial"/>
              </a:rPr>
              <a:t>Sequence by operating leverage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8896" y="2139696"/>
            <a:ext cx="246888" cy="274320"/>
          </a:xfrm>
          <a:prstGeom prst="rect">
            <a:avLst/>
          </a:prstGeom>
          <a:solidFill>
            <a:srgbClr val="F2741F"/>
          </a:solidFill>
          <a:ln w="8890">
            <a:solidFill>
              <a:srgbClr val="F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68896" y="2189988"/>
            <a:ext cx="246888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148839"/>
            <a:ext cx="3886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40" b="1">
                <a:solidFill>
                  <a:srgbClr val="1F2B49"/>
                </a:solidFill>
                <a:latin typeface="Arial"/>
              </a:rPr>
              <a:t>Protect year-end 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2359152"/>
            <a:ext cx="38862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10" b="0">
                <a:solidFill>
                  <a:srgbClr val="687385"/>
                </a:solidFill>
                <a:latin typeface="Arial"/>
              </a:rPr>
              <a:t>Inventory, fulfilment and staffing scaled for the Nov–Dec peak.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68896" y="2724912"/>
            <a:ext cx="246888" cy="274320"/>
          </a:xfrm>
          <a:prstGeom prst="rect">
            <a:avLst/>
          </a:prstGeom>
          <a:solidFill>
            <a:srgbClr val="BE3945"/>
          </a:solidFill>
          <a:ln w="8890">
            <a:solidFill>
              <a:srgbClr val="BE3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68896" y="2775204"/>
            <a:ext cx="246888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2734056"/>
            <a:ext cx="3886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40" b="1">
                <a:solidFill>
                  <a:srgbClr val="1F2B49"/>
                </a:solidFill>
                <a:latin typeface="Arial"/>
              </a:rPr>
              <a:t>Plumb the £0.89M cancellation loss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2944368"/>
            <a:ext cx="38862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10" b="0">
                <a:solidFill>
                  <a:srgbClr val="687385"/>
                </a:solidFill>
                <a:latin typeface="Arial"/>
              </a:rPr>
              <a:t>Investigate cancellation drivers — especially during peak — and tighten inventory &amp; fulfilment.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3310128"/>
            <a:ext cx="246888" cy="274320"/>
          </a:xfrm>
          <a:prstGeom prst="rect">
            <a:avLst/>
          </a:prstGeom>
          <a:solidFill>
            <a:srgbClr val="48A538"/>
          </a:solidFill>
          <a:ln w="8890">
            <a:solidFill>
              <a:srgbClr val="1F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68896" y="3360420"/>
            <a:ext cx="246888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3319272"/>
            <a:ext cx="3886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40" b="1">
                <a:solidFill>
                  <a:srgbClr val="1F2B49"/>
                </a:solidFill>
                <a:latin typeface="Arial"/>
              </a:rPr>
              <a:t>Deepen registered-customer engagement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3529584"/>
            <a:ext cx="38862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10" b="0">
                <a:solidFill>
                  <a:srgbClr val="687385"/>
                </a:solidFill>
                <a:latin typeface="Arial"/>
              </a:rPr>
              <a:t>Personalised retention; they already carry 84.9% of revenue and 65% repeat rate.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68896" y="3895344"/>
            <a:ext cx="246888" cy="274320"/>
          </a:xfrm>
          <a:prstGeom prst="rect">
            <a:avLst/>
          </a:prstGeom>
          <a:solidFill>
            <a:srgbClr val="F2741F"/>
          </a:solidFill>
          <a:ln w="8890">
            <a:solidFill>
              <a:srgbClr val="F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68896" y="3945635"/>
            <a:ext cx="246888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3904487"/>
            <a:ext cx="3886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40" b="1">
                <a:solidFill>
                  <a:srgbClr val="1F2B49"/>
                </a:solidFill>
                <a:latin typeface="Arial"/>
              </a:rPr>
              <a:t>Convert high-value guests to registered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4114800"/>
            <a:ext cx="38862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10" b="0">
                <a:solidFill>
                  <a:srgbClr val="687385"/>
                </a:solidFill>
                <a:latin typeface="Arial"/>
              </a:rPr>
              <a:t>Guests buy larger — £881 AOV, 79.7 items/order — a single conversion multiplies LTV.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68896" y="4480560"/>
            <a:ext cx="246888" cy="274320"/>
          </a:xfrm>
          <a:prstGeom prst="rect">
            <a:avLst/>
          </a:prstGeom>
          <a:solidFill>
            <a:schemeClr val="tx2">
              <a:lumMod val="75000"/>
            </a:schemeClr>
          </a:solidFill>
          <a:ln w="8890">
            <a:solidFill>
              <a:srgbClr val="00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68896" y="4530852"/>
            <a:ext cx="246888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4489704"/>
            <a:ext cx="3886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40" b="1">
                <a:solidFill>
                  <a:srgbClr val="1F2B49"/>
                </a:solidFill>
                <a:latin typeface="Arial"/>
              </a:rPr>
              <a:t>Diversify outside the UK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4700016"/>
            <a:ext cx="38862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10" b="0">
                <a:solidFill>
                  <a:srgbClr val="687385"/>
                </a:solidFill>
                <a:latin typeface="Arial"/>
              </a:rPr>
              <a:t>Selectively expand in NL, EIRE, Germany, France — Germany and France show stronger engagement.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68896" y="5065776"/>
            <a:ext cx="246888" cy="274320"/>
          </a:xfrm>
          <a:prstGeom prst="rect">
            <a:avLst/>
          </a:prstGeom>
          <a:solidFill>
            <a:srgbClr val="1F2B49"/>
          </a:solidFill>
          <a:ln w="8890">
            <a:solidFill>
              <a:srgbClr val="1F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68896" y="5116068"/>
            <a:ext cx="246888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5074920"/>
            <a:ext cx="3886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40" b="1">
                <a:solidFill>
                  <a:srgbClr val="1F2B49"/>
                </a:solidFill>
                <a:latin typeface="Arial"/>
              </a:rPr>
              <a:t>Balance revenue, volume and reach in product planning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800" y="5285232"/>
            <a:ext cx="38862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10" b="0">
                <a:solidFill>
                  <a:srgbClr val="687385"/>
                </a:solidFill>
                <a:latin typeface="Arial"/>
              </a:rPr>
              <a:t>Volume leaders and revenue leaders differ — manage the two lenses in parallel.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879592"/>
            <a:ext cx="11274552" cy="685800"/>
          </a:xfrm>
          <a:prstGeom prst="rect">
            <a:avLst/>
          </a:prstGeom>
          <a:solidFill>
            <a:srgbClr val="1F2E4D"/>
          </a:solidFill>
          <a:ln w="8890">
            <a:solidFill>
              <a:srgbClr val="1F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02920" y="5879592"/>
            <a:ext cx="32004" cy="685800"/>
          </a:xfrm>
          <a:prstGeom prst="rect">
            <a:avLst/>
          </a:prstGeom>
          <a:solidFill>
            <a:srgbClr val="F2741F"/>
          </a:solidFill>
          <a:ln w="8890">
            <a:solidFill>
              <a:srgbClr val="F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8368" y="5989320"/>
            <a:ext cx="11430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30" b="0">
                <a:solidFill>
                  <a:srgbClr val="F2741F"/>
                </a:solidFill>
                <a:latin typeface="Arial"/>
              </a:rPr>
              <a:t>C L O S I N G   K P I   S T R I 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09204" y="5992368"/>
            <a:ext cx="1325880" cy="1280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40" b="0" dirty="0">
                <a:solidFill>
                  <a:srgbClr val="FFFFFF"/>
                </a:solidFill>
                <a:latin typeface="Arial"/>
              </a:rPr>
              <a:t>Total Revenue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55648" y="612648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eorgia"/>
              </a:rPr>
              <a:t>£9.75M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5968" y="5971032"/>
            <a:ext cx="1325880" cy="1280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Arial"/>
              </a:rPr>
              <a:t>Cancellation Loss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5968" y="612648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2741F"/>
                </a:solidFill>
                <a:latin typeface="Georgia"/>
              </a:rPr>
              <a:t>£894K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3720" y="5971032"/>
            <a:ext cx="1325880" cy="1280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Arial"/>
              </a:rPr>
              <a:t>Registered Revenue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612648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eorgia"/>
              </a:rPr>
              <a:t>84.9%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5971032"/>
            <a:ext cx="1325880" cy="1280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Arial"/>
              </a:rPr>
              <a:t>Repeat Rate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612648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eorgia"/>
              </a:rPr>
              <a:t>65%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6629400"/>
            <a:ext cx="11155680" cy="0"/>
          </a:xfrm>
          <a:prstGeom prst="rect">
            <a:avLst/>
          </a:prstGeom>
          <a:solidFill>
            <a:srgbClr val="E5E8ED"/>
          </a:solidFill>
          <a:ln w="8890">
            <a:solidFill>
              <a:srgbClr val="E5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2920" y="6647373"/>
            <a:ext cx="4203395" cy="2200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lang="en-IN" sz="800" b="1" dirty="0">
                <a:solidFill>
                  <a:srgbClr val="94A3B8"/>
                </a:solidFill>
                <a:latin typeface="Inter"/>
              </a:rPr>
              <a:t>11 / 12  </a:t>
            </a:r>
            <a:r>
              <a:rPr sz="830" b="0" dirty="0">
                <a:solidFill>
                  <a:srgbClr val="687385"/>
                </a:solidFill>
                <a:latin typeface="Arial"/>
              </a:rPr>
              <a:t>recommendations derived from observed metrics only   ·   TCS Retail Analytics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09960" y="6729984"/>
            <a:ext cx="530352" cy="137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610" b="0">
                <a:solidFill>
                  <a:srgbClr val="687385"/>
                </a:solidFill>
                <a:latin typeface="Arial"/>
              </a:rPr>
              <a:t>10  /  10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1A20183-63B0-DFD7-7900-5FD3D68250CE}"/>
              </a:ext>
            </a:extLst>
          </p:cNvPr>
          <p:cNvSpPr/>
          <p:nvPr/>
        </p:nvSpPr>
        <p:spPr>
          <a:xfrm>
            <a:off x="542544" y="946980"/>
            <a:ext cx="576000" cy="36000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36C2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647825"/>
            <a:ext cx="3619500" cy="4410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381000"/>
            <a:ext cx="1123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spc="300" dirty="0">
                <a:solidFill>
                  <a:schemeClr val="accent6"/>
                </a:solidFill>
                <a:latin typeface="Inter"/>
              </a:rPr>
              <a:t>12 ·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590550"/>
            <a:ext cx="117157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0" i="0" u="none" dirty="0">
                <a:solidFill>
                  <a:srgbClr val="003366"/>
                </a:solidFill>
                <a:latin typeface="Inter ExtraBold"/>
              </a:rPr>
              <a:t>Business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" y="1228725"/>
            <a:ext cx="11239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Value delivered, artifacts produced, and capabilities demonstrated.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6572250"/>
            <a:ext cx="337378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000" b="1" dirty="0">
                <a:solidFill>
                  <a:srgbClr val="ECEFF2"/>
                </a:solidFill>
                <a:latin typeface="Inter"/>
              </a:rPr>
              <a:t>12 / 12  </a:t>
            </a:r>
            <a:r>
              <a:rPr sz="975" b="0" i="0" u="none" dirty="0">
                <a:solidFill>
                  <a:srgbClr val="FFFFFF"/>
                </a:solidFill>
                <a:latin typeface="Inter SemiBold"/>
              </a:rPr>
              <a:t>Retail Sales Performance Analytics - Tata Retail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2712" y="6572250"/>
            <a:ext cx="15382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 SemiBold"/>
              </a:rPr>
              <a:t>12 / 12 · END OF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1933575"/>
            <a:ext cx="3162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chemeClr val="accent6"/>
                </a:solidFill>
                <a:latin typeface="Inter"/>
              </a:rPr>
              <a:t>01 · BUSINESS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2190750"/>
            <a:ext cx="332041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800" b="1" i="0" u="none" dirty="0">
                <a:solidFill>
                  <a:srgbClr val="FFFFFF"/>
                </a:solidFill>
                <a:latin typeface="Inter"/>
              </a:rPr>
              <a:t>What it unlocks for the business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850" y="2458107"/>
            <a:ext cx="304800" cy="28575"/>
          </a:xfrm>
          <a:prstGeom prst="rect">
            <a:avLst/>
          </a:prstGeom>
          <a:solidFill>
            <a:srgbClr val="F47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6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4850" y="2911044"/>
            <a:ext cx="3162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chemeClr val="accent6"/>
                </a:solidFill>
                <a:latin typeface="Inter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850" y="3082494"/>
            <a:ext cx="3162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Reliable executive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850" y="3482544"/>
            <a:ext cx="3162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chemeClr val="accent6"/>
                </a:solidFill>
                <a:latin typeface="Inter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850" y="3653994"/>
            <a:ext cx="3162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Improved data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850" y="4054044"/>
            <a:ext cx="3162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chemeClr val="accent6"/>
                </a:solidFill>
                <a:latin typeface="Inter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850" y="4225494"/>
            <a:ext cx="3162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FFFFFF"/>
                </a:solidFill>
                <a:latin typeface="Inter SemiBold"/>
              </a:rPr>
              <a:t>Automated analytics workflow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CF6A4E-5F1C-31D8-7C79-12C93AB872F8}"/>
              </a:ext>
            </a:extLst>
          </p:cNvPr>
          <p:cNvSpPr/>
          <p:nvPr/>
        </p:nvSpPr>
        <p:spPr>
          <a:xfrm>
            <a:off x="533400" y="996315"/>
            <a:ext cx="432000" cy="45719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36C21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944F420-68CE-EFF8-EC1E-E093D8085784}"/>
              </a:ext>
            </a:extLst>
          </p:cNvPr>
          <p:cNvGrpSpPr/>
          <p:nvPr/>
        </p:nvGrpSpPr>
        <p:grpSpPr>
          <a:xfrm>
            <a:off x="4329605" y="1654393"/>
            <a:ext cx="3618000" cy="4374931"/>
            <a:chOff x="45720" y="182880"/>
            <a:chExt cx="4937760" cy="2926080"/>
          </a:xfrm>
        </p:grpSpPr>
        <p:sp>
          <p:nvSpPr>
            <p:cNvPr id="44" name="Rounded Rectangle 1">
              <a:extLst>
                <a:ext uri="{FF2B5EF4-FFF2-40B4-BE49-F238E27FC236}">
                  <a16:creationId xmlns:a16="http://schemas.microsoft.com/office/drawing/2014/main" id="{900CB2C7-3AA5-5428-0582-24FFBBD7683B}"/>
                </a:ext>
              </a:extLst>
            </p:cNvPr>
            <p:cNvSpPr/>
            <p:nvPr/>
          </p:nvSpPr>
          <p:spPr>
            <a:xfrm>
              <a:off x="45720" y="182880"/>
              <a:ext cx="4937760" cy="2926080"/>
            </a:xfrm>
            <a:prstGeom prst="roundRect">
              <a:avLst>
                <a:gd name="adj" fmla="val 2000"/>
              </a:avLst>
            </a:prstGeom>
            <a:solidFill>
              <a:srgbClr val="F2F4F7"/>
            </a:solidFill>
            <a:ln w="6350">
              <a:solidFill>
                <a:srgbClr val="F2F4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BF6D6A1-EFF2-150B-8D08-B74596077D5F}"/>
                </a:ext>
              </a:extLst>
            </p:cNvPr>
            <p:cNvSpPr/>
            <p:nvPr/>
          </p:nvSpPr>
          <p:spPr>
            <a:xfrm>
              <a:off x="45720" y="182880"/>
              <a:ext cx="4937760" cy="47734"/>
            </a:xfrm>
            <a:prstGeom prst="rect">
              <a:avLst/>
            </a:prstGeom>
            <a:solidFill>
              <a:srgbClr val="E67E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FA9B99C-222F-2FCE-27BC-3E5F01DB3AC3}"/>
              </a:ext>
            </a:extLst>
          </p:cNvPr>
          <p:cNvGrpSpPr/>
          <p:nvPr/>
        </p:nvGrpSpPr>
        <p:grpSpPr>
          <a:xfrm>
            <a:off x="4478397" y="1942230"/>
            <a:ext cx="3320415" cy="2438400"/>
            <a:chOff x="4483214" y="1962150"/>
            <a:chExt cx="3320415" cy="2438400"/>
          </a:xfrm>
        </p:grpSpPr>
        <p:sp>
          <p:nvSpPr>
            <p:cNvPr id="20" name="TextBox 19"/>
            <p:cNvSpPr txBox="1"/>
            <p:nvPr/>
          </p:nvSpPr>
          <p:spPr>
            <a:xfrm>
              <a:off x="4514850" y="1962150"/>
              <a:ext cx="3162300" cy="1428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 u="none" dirty="0">
                  <a:solidFill>
                    <a:schemeClr val="accent6"/>
                  </a:solidFill>
                  <a:latin typeface="Inter"/>
                </a:rPr>
                <a:t>02 · TECHNICAL DELIVERABLES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483214" y="2197318"/>
              <a:ext cx="3320415" cy="2857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sz="1800" b="1" i="0" u="none" dirty="0">
                  <a:solidFill>
                    <a:srgbClr val="003366"/>
                  </a:solidFill>
                  <a:latin typeface="Inter"/>
                </a:rPr>
                <a:t>What was built and shipped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14850" y="2474205"/>
              <a:ext cx="304800" cy="28575"/>
            </a:xfrm>
            <a:prstGeom prst="rect">
              <a:avLst/>
            </a:prstGeom>
            <a:solidFill>
              <a:srgbClr val="F47B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514850" y="2895600"/>
              <a:ext cx="316230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25" b="1" i="0" u="none" dirty="0">
                  <a:solidFill>
                    <a:schemeClr val="accent6"/>
                  </a:solidFill>
                  <a:latin typeface="Inter"/>
                </a:rPr>
                <a:t>01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14850" y="3067050"/>
              <a:ext cx="3162300" cy="190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i="0" u="none" dirty="0">
                  <a:solidFill>
                    <a:srgbClr val="003366"/>
                  </a:solidFill>
                  <a:latin typeface="Inter SemiBold"/>
                </a:rPr>
                <a:t>Python ETL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514850" y="3467100"/>
              <a:ext cx="316230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25" b="1" i="0" u="none" dirty="0">
                  <a:solidFill>
                    <a:schemeClr val="accent6"/>
                  </a:solidFill>
                  <a:latin typeface="Inter"/>
                </a:rPr>
                <a:t>02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514850" y="3638550"/>
              <a:ext cx="3162300" cy="190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i="0" u="none" dirty="0">
                  <a:solidFill>
                    <a:srgbClr val="003366"/>
                  </a:solidFill>
                  <a:latin typeface="Inter SemiBold"/>
                </a:rPr>
                <a:t>Analytical </a:t>
              </a:r>
              <a:r>
                <a:rPr lang="en-IN" sz="1200" dirty="0">
                  <a:solidFill>
                    <a:srgbClr val="003366"/>
                  </a:solidFill>
                  <a:latin typeface="Inter SemiBold"/>
                </a:rPr>
                <a:t>Layer &amp; Semantic Model</a:t>
              </a:r>
              <a:endParaRPr sz="1200" b="0" i="0" u="none" dirty="0">
                <a:solidFill>
                  <a:srgbClr val="003366"/>
                </a:solidFill>
                <a:latin typeface="Inter SemiBold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514850" y="4038600"/>
              <a:ext cx="316230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25" b="1" i="0" u="none" dirty="0">
                  <a:solidFill>
                    <a:schemeClr val="accent6"/>
                  </a:solidFill>
                  <a:latin typeface="Inter"/>
                </a:rPr>
                <a:t>03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514850" y="4210050"/>
              <a:ext cx="3162300" cy="190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i="0" u="none" dirty="0">
                  <a:solidFill>
                    <a:srgbClr val="003366"/>
                  </a:solidFill>
                  <a:latin typeface="Inter SemiBold"/>
                </a:rPr>
                <a:t>Interactive Power BI dashboards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DE3258A-4762-329B-EA12-AF4E7D994308}"/>
              </a:ext>
            </a:extLst>
          </p:cNvPr>
          <p:cNvGrpSpPr/>
          <p:nvPr/>
        </p:nvGrpSpPr>
        <p:grpSpPr>
          <a:xfrm>
            <a:off x="8096252" y="1638300"/>
            <a:ext cx="3618000" cy="4374931"/>
            <a:chOff x="45720" y="182880"/>
            <a:chExt cx="4937760" cy="2926080"/>
          </a:xfrm>
        </p:grpSpPr>
        <p:sp>
          <p:nvSpPr>
            <p:cNvPr id="49" name="Rounded Rectangle 1">
              <a:extLst>
                <a:ext uri="{FF2B5EF4-FFF2-40B4-BE49-F238E27FC236}">
                  <a16:creationId xmlns:a16="http://schemas.microsoft.com/office/drawing/2014/main" id="{2C654EDE-82B0-0207-906F-BFBE971682D5}"/>
                </a:ext>
              </a:extLst>
            </p:cNvPr>
            <p:cNvSpPr/>
            <p:nvPr/>
          </p:nvSpPr>
          <p:spPr>
            <a:xfrm>
              <a:off x="45720" y="182880"/>
              <a:ext cx="4937760" cy="2926080"/>
            </a:xfrm>
            <a:prstGeom prst="roundRect">
              <a:avLst>
                <a:gd name="adj" fmla="val 2000"/>
              </a:avLst>
            </a:prstGeom>
            <a:solidFill>
              <a:srgbClr val="F2F4F7"/>
            </a:solidFill>
            <a:ln w="6350">
              <a:solidFill>
                <a:srgbClr val="F2F4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C3D1371-3247-F380-BB9D-957574E18EF0}"/>
                </a:ext>
              </a:extLst>
            </p:cNvPr>
            <p:cNvSpPr/>
            <p:nvPr/>
          </p:nvSpPr>
          <p:spPr>
            <a:xfrm>
              <a:off x="45720" y="182880"/>
              <a:ext cx="4937760" cy="47734"/>
            </a:xfrm>
            <a:prstGeom prst="rect">
              <a:avLst/>
            </a:prstGeom>
            <a:solidFill>
              <a:srgbClr val="E67E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8ACF3A7-87D4-8156-609B-5C723417E549}"/>
              </a:ext>
            </a:extLst>
          </p:cNvPr>
          <p:cNvGrpSpPr/>
          <p:nvPr/>
        </p:nvGrpSpPr>
        <p:grpSpPr>
          <a:xfrm>
            <a:off x="8324850" y="1962150"/>
            <a:ext cx="3320415" cy="2345692"/>
            <a:chOff x="8324850" y="1962150"/>
            <a:chExt cx="3320415" cy="2345692"/>
          </a:xfrm>
        </p:grpSpPr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24850" y="2895600"/>
              <a:ext cx="1343025" cy="390525"/>
            </a:xfrm>
            <a:prstGeom prst="rect">
              <a:avLst/>
            </a:prstGeom>
          </p:spPr>
        </p:pic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82175" y="2895600"/>
              <a:ext cx="1371600" cy="390525"/>
            </a:xfrm>
            <a:prstGeom prst="rect">
              <a:avLst/>
            </a:prstGeom>
          </p:spPr>
        </p:pic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24850" y="3400425"/>
              <a:ext cx="666750" cy="390525"/>
            </a:xfrm>
            <a:prstGeom prst="rect">
              <a:avLst/>
            </a:prstGeom>
          </p:spPr>
        </p:pic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05900" y="3400425"/>
              <a:ext cx="1638300" cy="390525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8324850" y="1962150"/>
              <a:ext cx="3162300" cy="1428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 u="none" dirty="0">
                  <a:solidFill>
                    <a:schemeClr val="accent6"/>
                  </a:solidFill>
                  <a:latin typeface="Inter"/>
                </a:rPr>
                <a:t>03 · SKILLS DEMONSTRATED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324850" y="2219325"/>
              <a:ext cx="3320415" cy="2857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sz="1800" b="1" i="0" u="none" dirty="0">
                  <a:solidFill>
                    <a:srgbClr val="003366"/>
                  </a:solidFill>
                  <a:latin typeface="Inter"/>
                </a:rPr>
                <a:t>Capabilities on display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335360" y="2505735"/>
              <a:ext cx="304800" cy="28575"/>
            </a:xfrm>
            <a:prstGeom prst="rect">
              <a:avLst/>
            </a:prstGeom>
            <a:solidFill>
              <a:srgbClr val="F47B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CC2C858-67E9-2DC7-307E-BB2A25C7ED3C}"/>
                </a:ext>
              </a:extLst>
            </p:cNvPr>
            <p:cNvSpPr/>
            <p:nvPr/>
          </p:nvSpPr>
          <p:spPr>
            <a:xfrm>
              <a:off x="8324850" y="3936368"/>
              <a:ext cx="1250074" cy="371474"/>
            </a:xfrm>
            <a:prstGeom prst="rect">
              <a:avLst/>
            </a:prstGeom>
            <a:solidFill>
              <a:srgbClr val="F47B38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CC6612C-1C17-168F-5725-041D1807AA96}"/>
                </a:ext>
              </a:extLst>
            </p:cNvPr>
            <p:cNvSpPr txBox="1"/>
            <p:nvPr/>
          </p:nvSpPr>
          <p:spPr>
            <a:xfrm>
              <a:off x="8477709" y="4023165"/>
              <a:ext cx="1023643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200" b="1" i="0" u="none" dirty="0">
                  <a:solidFill>
                    <a:schemeClr val="bg1"/>
                  </a:solidFill>
                  <a:latin typeface="Inter SemiBold"/>
                </a:rPr>
                <a:t>Data Analysis</a:t>
              </a:r>
              <a:endParaRPr sz="1200" b="1" i="0" u="none" dirty="0">
                <a:solidFill>
                  <a:schemeClr val="bg1"/>
                </a:solidFill>
                <a:latin typeface="Inter Semi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2468</Words>
  <Application>Microsoft Office PowerPoint</Application>
  <PresentationFormat>Widescreen</PresentationFormat>
  <Paragraphs>505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Aptos Mono</vt:lpstr>
      <vt:lpstr>Arial</vt:lpstr>
      <vt:lpstr>Calibri</vt:lpstr>
      <vt:lpstr>Georgia</vt:lpstr>
      <vt:lpstr>Inter</vt:lpstr>
      <vt:lpstr>Inter ExtraBold</vt:lpstr>
      <vt:lpstr>Inter Medium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Kartik Bhaskar</dc:creator>
  <cp:keywords/>
  <dc:description>generated using python-pptx</dc:description>
  <cp:lastModifiedBy>atbajov</cp:lastModifiedBy>
  <cp:revision>26</cp:revision>
  <dcterms:created xsi:type="dcterms:W3CDTF">2013-01-27T09:14:16Z</dcterms:created>
  <dcterms:modified xsi:type="dcterms:W3CDTF">2026-08-24T11:51:15Z</dcterms:modified>
  <cp:category/>
</cp:coreProperties>
</file>